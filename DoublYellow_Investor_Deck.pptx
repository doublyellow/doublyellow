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Annual Revenue (£M)</c:v>
                </c:pt>
              </c:strCache>
            </c:strRef>
          </c:tx>
          <c:spPr>
            <a:solidFill>
              <a:srgbClr val="FFD70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Y1 Low</c:v>
                  </c:pt>
                  <c:pt idx="1">
                    <c:v>Y1 High</c:v>
                  </c:pt>
                  <c:pt idx="2">
                    <c:v>Y2 Low</c:v>
                  </c:pt>
                  <c:pt idx="3">
                    <c:v>Y2 High</c:v>
                  </c:pt>
                  <c:pt idx="4">
                    <c:v>Y3</c:v>
                  </c:pt>
                </c:lvl>
              </c:multiLvlStrCache>
            </c:multiLvlStrRef>
          </c:cat>
          <c:val>
            <c:numRef>
              <c:f>Sheet1!$B$2:$B$6</c:f>
              <c:numCache>
                <c:formatCode>General</c:formatCode>
                <c:ptCount val="5"/>
                <c:pt idx="0">
                  <c:v>0.32</c:v>
                </c:pt>
                <c:pt idx="1">
                  <c:v>0.965</c:v>
                </c:pt>
                <c:pt idx="2">
                  <c:v>3.2</c:v>
                </c:pt>
                <c:pt idx="3">
                  <c:v>9.6</c:v>
                </c:pt>
                <c:pt idx="4">
                  <c:v>19.3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888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33333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888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11111"/>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D700"/>
          </a:solidFill>
          <a:ln w="12700">
            <a:solidFill>
              <a:srgbClr val="FFD700"/>
            </a:solidFill>
            <a:prstDash val="solid"/>
          </a:ln>
        </p:spPr>
      </p:sp>
      <p:sp>
        <p:nvSpPr>
          <p:cNvPr id="3" name="Shape 1"/>
          <p:cNvSpPr/>
          <p:nvPr/>
        </p:nvSpPr>
        <p:spPr>
          <a:xfrm>
            <a:off x="0" y="5079492"/>
            <a:ext cx="9144000" cy="64008"/>
          </a:xfrm>
          <a:prstGeom prst="rect">
            <a:avLst/>
          </a:prstGeom>
          <a:solidFill>
            <a:srgbClr val="FFD700"/>
          </a:solidFill>
          <a:ln w="12700">
            <a:solidFill>
              <a:srgbClr val="FFD700"/>
            </a:solidFill>
            <a:prstDash val="solid"/>
          </a:ln>
        </p:spPr>
      </p:sp>
      <p:sp>
        <p:nvSpPr>
          <p:cNvPr id="4" name="Shape 2"/>
          <p:cNvSpPr/>
          <p:nvPr/>
        </p:nvSpPr>
        <p:spPr>
          <a:xfrm>
            <a:off x="7818120" y="0"/>
            <a:ext cx="118872" cy="5143500"/>
          </a:xfrm>
          <a:prstGeom prst="rect">
            <a:avLst/>
          </a:prstGeom>
          <a:solidFill>
            <a:srgbClr val="FFD700"/>
          </a:solidFill>
          <a:ln w="12700">
            <a:solidFill>
              <a:srgbClr val="FFD700"/>
            </a:solidFill>
            <a:prstDash val="solid"/>
          </a:ln>
        </p:spPr>
      </p:sp>
      <p:sp>
        <p:nvSpPr>
          <p:cNvPr id="5" name="Shape 3"/>
          <p:cNvSpPr/>
          <p:nvPr/>
        </p:nvSpPr>
        <p:spPr>
          <a:xfrm>
            <a:off x="8092440" y="0"/>
            <a:ext cx="118872" cy="5143500"/>
          </a:xfrm>
          <a:prstGeom prst="rect">
            <a:avLst/>
          </a:prstGeom>
          <a:solidFill>
            <a:srgbClr val="FFD700"/>
          </a:solidFill>
          <a:ln w="12700">
            <a:solidFill>
              <a:srgbClr val="FFD700"/>
            </a:solidFill>
            <a:prstDash val="solid"/>
          </a:ln>
        </p:spPr>
      </p:sp>
      <p:sp>
        <p:nvSpPr>
          <p:cNvPr id="6" name="Text 4"/>
          <p:cNvSpPr/>
          <p:nvPr/>
        </p:nvSpPr>
        <p:spPr>
          <a:xfrm>
            <a:off x="548640" y="777240"/>
            <a:ext cx="7040880" cy="1005840"/>
          </a:xfrm>
          <a:prstGeom prst="rect">
            <a:avLst/>
          </a:prstGeom>
          <a:noFill/>
          <a:ln/>
        </p:spPr>
        <p:txBody>
          <a:bodyPr wrap="square" lIns="0" tIns="0" rIns="0" bIns="0" rtlCol="0" anchor="ctr"/>
          <a:lstStyle/>
          <a:p>
            <a:pPr indent="0" marL="0">
              <a:buNone/>
            </a:pPr>
            <a:r>
              <a:rPr lang="en-US" sz="8800" b="1" dirty="0">
                <a:solidFill>
                  <a:srgbClr val="FFD700"/>
                </a:solidFill>
                <a:latin typeface="Arial Black" pitchFamily="34" charset="0"/>
                <a:ea typeface="Arial Black" pitchFamily="34" charset="-122"/>
                <a:cs typeface="Arial Black" pitchFamily="34" charset="-120"/>
              </a:rPr>
              <a:t>DOUBLE</a:t>
            </a:r>
            <a:endParaRPr lang="en-US" sz="8800" dirty="0"/>
          </a:p>
        </p:txBody>
      </p:sp>
      <p:sp>
        <p:nvSpPr>
          <p:cNvPr id="7" name="Text 5"/>
          <p:cNvSpPr/>
          <p:nvPr/>
        </p:nvSpPr>
        <p:spPr>
          <a:xfrm>
            <a:off x="548640" y="1691640"/>
            <a:ext cx="7040880" cy="1005840"/>
          </a:xfrm>
          <a:prstGeom prst="rect">
            <a:avLst/>
          </a:prstGeom>
          <a:noFill/>
          <a:ln/>
        </p:spPr>
        <p:txBody>
          <a:bodyPr wrap="square" lIns="0" tIns="0" rIns="0" bIns="0" rtlCol="0" anchor="ctr"/>
          <a:lstStyle/>
          <a:p>
            <a:pPr indent="0" marL="0">
              <a:buNone/>
            </a:pPr>
            <a:r>
              <a:rPr lang="en-US" sz="8800" b="1" dirty="0">
                <a:solidFill>
                  <a:srgbClr val="FFD700"/>
                </a:solidFill>
                <a:latin typeface="Arial Black" pitchFamily="34" charset="0"/>
                <a:ea typeface="Arial Black" pitchFamily="34" charset="-122"/>
                <a:cs typeface="Arial Black" pitchFamily="34" charset="-120"/>
              </a:rPr>
              <a:t>YELLOW</a:t>
            </a:r>
            <a:endParaRPr lang="en-US" sz="8800" dirty="0"/>
          </a:p>
        </p:txBody>
      </p:sp>
      <p:sp>
        <p:nvSpPr>
          <p:cNvPr id="8" name="Shape 6"/>
          <p:cNvSpPr/>
          <p:nvPr/>
        </p:nvSpPr>
        <p:spPr>
          <a:xfrm>
            <a:off x="548640" y="2834640"/>
            <a:ext cx="6949440" cy="18288"/>
          </a:xfrm>
          <a:prstGeom prst="rect">
            <a:avLst/>
          </a:prstGeom>
          <a:solidFill>
            <a:srgbClr val="333333"/>
          </a:solidFill>
          <a:ln w="12700">
            <a:solidFill>
              <a:srgbClr val="333333"/>
            </a:solidFill>
            <a:prstDash val="solid"/>
          </a:ln>
        </p:spPr>
      </p:sp>
      <p:sp>
        <p:nvSpPr>
          <p:cNvPr id="9" name="Text 7"/>
          <p:cNvSpPr/>
          <p:nvPr/>
        </p:nvSpPr>
        <p:spPr>
          <a:xfrm>
            <a:off x="548640" y="2926080"/>
            <a:ext cx="6949440" cy="5029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The community network app with the power to save millions on parking fines.</a:t>
            </a:r>
            <a:endParaRPr lang="en-US" sz="1600" dirty="0"/>
          </a:p>
        </p:txBody>
      </p:sp>
      <p:sp>
        <p:nvSpPr>
          <p:cNvPr id="10" name="Text 8"/>
          <p:cNvSpPr/>
          <p:nvPr/>
        </p:nvSpPr>
        <p:spPr>
          <a:xfrm>
            <a:off x="548640" y="3520440"/>
            <a:ext cx="6949440" cy="274320"/>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Seed Investment Deck  ·  Confidential  ·  March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D700"/>
          </a:solidFill>
          <a:ln w="12700">
            <a:solidFill>
              <a:srgbClr val="FFD700"/>
            </a:solidFill>
            <a:prstDash val="solid"/>
          </a:ln>
        </p:spPr>
      </p:sp>
      <p:sp>
        <p:nvSpPr>
          <p:cNvPr id="3" name="Shape 1"/>
          <p:cNvSpPr/>
          <p:nvPr/>
        </p:nvSpPr>
        <p:spPr>
          <a:xfrm>
            <a:off x="0" y="5079492"/>
            <a:ext cx="9144000" cy="64008"/>
          </a:xfrm>
          <a:prstGeom prst="rect">
            <a:avLst/>
          </a:prstGeom>
          <a:solidFill>
            <a:srgbClr val="FFD700"/>
          </a:solidFill>
          <a:ln w="12700">
            <a:solidFill>
              <a:srgbClr val="FFD700"/>
            </a:solidFill>
            <a:prstDash val="solid"/>
          </a:ln>
        </p:spPr>
      </p:sp>
      <p:sp>
        <p:nvSpPr>
          <p:cNvPr id="4" name="Text 2"/>
          <p:cNvSpPr/>
          <p:nvPr/>
        </p:nvSpPr>
        <p:spPr>
          <a:xfrm>
            <a:off x="4572000" y="201168"/>
            <a:ext cx="4206240" cy="256032"/>
          </a:xfrm>
          <a:prstGeom prst="rect">
            <a:avLst/>
          </a:prstGeom>
          <a:noFill/>
          <a:ln/>
        </p:spPr>
        <p:txBody>
          <a:bodyPr wrap="square" lIns="0" tIns="0" rIns="0" bIns="0" rtlCol="0" anchor="ctr"/>
          <a:lstStyle/>
          <a:p>
            <a:pPr algn="r" indent="0" marL="0">
              <a:buNone/>
            </a:pPr>
            <a:r>
              <a:rPr lang="en-US" sz="900" b="1" spc="400" kern="0" dirty="0">
                <a:solidFill>
                  <a:srgbClr val="FFD700"/>
                </a:solidFill>
                <a:latin typeface="Calibri" pitchFamily="34" charset="0"/>
                <a:ea typeface="Calibri" pitchFamily="34" charset="-122"/>
                <a:cs typeface="Calibri" pitchFamily="34" charset="-120"/>
              </a:rPr>
              <a:t>THE PROBLEM</a:t>
            </a:r>
            <a:endParaRPr lang="en-US" sz="900" dirty="0"/>
          </a:p>
        </p:txBody>
      </p:sp>
      <p:sp>
        <p:nvSpPr>
          <p:cNvPr id="5" name="Text 3"/>
          <p:cNvSpPr/>
          <p:nvPr/>
        </p:nvSpPr>
        <p:spPr>
          <a:xfrm>
            <a:off x="548640" y="457200"/>
            <a:ext cx="8046720" cy="548640"/>
          </a:xfrm>
          <a:prstGeom prst="rect">
            <a:avLst/>
          </a:prstGeom>
          <a:noFill/>
          <a:ln/>
        </p:spPr>
        <p:txBody>
          <a:bodyPr wrap="square" lIns="0" tIns="0" rIns="0" bIns="0" rtlCol="0" anchor="ctr"/>
          <a:lstStyle/>
          <a:p>
            <a:pPr indent="0" marL="0">
              <a:buNone/>
            </a:pPr>
            <a:r>
              <a:rPr lang="en-US" sz="2700" b="1" dirty="0">
                <a:solidFill>
                  <a:srgbClr val="FFFFFF"/>
                </a:solidFill>
                <a:latin typeface="Arial Black" pitchFamily="34" charset="0"/>
                <a:ea typeface="Arial Black" pitchFamily="34" charset="-122"/>
                <a:cs typeface="Arial Black" pitchFamily="34" charset="-120"/>
              </a:rPr>
              <a:t>UK motorists receive over 200,000 parking fines </a:t>
            </a:r>
            <a:pPr indent="0" marL="0">
              <a:buNone/>
            </a:pPr>
            <a:r>
              <a:rPr lang="en-US" sz="2700" b="1" dirty="0">
                <a:solidFill>
                  <a:srgbClr val="FFD700"/>
                </a:solidFill>
                <a:latin typeface="Arial Black" pitchFamily="34" charset="0"/>
                <a:ea typeface="Arial Black" pitchFamily="34" charset="-122"/>
                <a:cs typeface="Arial Black" pitchFamily="34" charset="-120"/>
              </a:rPr>
              <a:t>EVERY DAY.</a:t>
            </a:r>
            <a:endParaRPr lang="en-US" sz="2700" dirty="0"/>
          </a:p>
        </p:txBody>
      </p:sp>
      <p:sp>
        <p:nvSpPr>
          <p:cNvPr id="6" name="Shape 4"/>
          <p:cNvSpPr/>
          <p:nvPr/>
        </p:nvSpPr>
        <p:spPr>
          <a:xfrm>
            <a:off x="457200" y="1234440"/>
            <a:ext cx="2606040" cy="114300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7" name="Text 5"/>
          <p:cNvSpPr/>
          <p:nvPr/>
        </p:nvSpPr>
        <p:spPr>
          <a:xfrm>
            <a:off x="621792" y="1298448"/>
            <a:ext cx="2286000" cy="548640"/>
          </a:xfrm>
          <a:prstGeom prst="rect">
            <a:avLst/>
          </a:prstGeom>
          <a:noFill/>
          <a:ln/>
        </p:spPr>
        <p:txBody>
          <a:bodyPr wrap="square" lIns="0" tIns="0" rIns="0" bIns="0" rtlCol="0" anchor="ctr"/>
          <a:lstStyle/>
          <a:p>
            <a:pPr indent="0" marL="0">
              <a:buNone/>
            </a:pPr>
            <a:r>
              <a:rPr lang="en-US" sz="3800" b="1" dirty="0">
                <a:solidFill>
                  <a:srgbClr val="FFD700"/>
                </a:solidFill>
                <a:latin typeface="Arial Black" pitchFamily="34" charset="0"/>
                <a:ea typeface="Arial Black" pitchFamily="34" charset="-122"/>
                <a:cs typeface="Arial Black" pitchFamily="34" charset="-120"/>
              </a:rPr>
              <a:t>76M</a:t>
            </a:r>
            <a:endParaRPr lang="en-US" sz="3800" dirty="0"/>
          </a:p>
        </p:txBody>
      </p:sp>
      <p:sp>
        <p:nvSpPr>
          <p:cNvPr id="8" name="Text 6"/>
          <p:cNvSpPr/>
          <p:nvPr/>
        </p:nvSpPr>
        <p:spPr>
          <a:xfrm>
            <a:off x="621792" y="1810512"/>
            <a:ext cx="2286000" cy="34747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parking tickets</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issued annually</a:t>
            </a:r>
            <a:endParaRPr lang="en-US" sz="1000" dirty="0"/>
          </a:p>
        </p:txBody>
      </p:sp>
      <p:sp>
        <p:nvSpPr>
          <p:cNvPr id="9" name="Text 7"/>
          <p:cNvSpPr/>
          <p:nvPr/>
        </p:nvSpPr>
        <p:spPr>
          <a:xfrm>
            <a:off x="621792" y="2157984"/>
            <a:ext cx="2286000" cy="155448"/>
          </a:xfrm>
          <a:prstGeom prst="rect">
            <a:avLst/>
          </a:prstGeom>
          <a:noFill/>
          <a:ln/>
        </p:spPr>
        <p:txBody>
          <a:bodyPr wrap="square" lIns="0" tIns="0" rIns="0" bIns="0" rtlCol="0" anchor="ctr"/>
          <a:lstStyle/>
          <a:p>
            <a:pPr indent="0" marL="0">
              <a:buNone/>
            </a:pPr>
            <a:r>
              <a:rPr lang="en-US" sz="700" i="1" dirty="0">
                <a:solidFill>
                  <a:srgbClr val="888888"/>
                </a:solidFill>
                <a:latin typeface="Calibri" pitchFamily="34" charset="0"/>
                <a:ea typeface="Calibri" pitchFamily="34" charset="-122"/>
                <a:cs typeface="Calibri" pitchFamily="34" charset="-120"/>
              </a:rPr>
              <a:t>BritBrief / DVLA 2025</a:t>
            </a:r>
            <a:endParaRPr lang="en-US" sz="700" dirty="0"/>
          </a:p>
        </p:txBody>
      </p:sp>
      <p:sp>
        <p:nvSpPr>
          <p:cNvPr id="10" name="Shape 8"/>
          <p:cNvSpPr/>
          <p:nvPr/>
        </p:nvSpPr>
        <p:spPr>
          <a:xfrm>
            <a:off x="3291840" y="1234440"/>
            <a:ext cx="2606040" cy="114300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11" name="Text 9"/>
          <p:cNvSpPr/>
          <p:nvPr/>
        </p:nvSpPr>
        <p:spPr>
          <a:xfrm>
            <a:off x="3456432" y="1298448"/>
            <a:ext cx="2286000" cy="548640"/>
          </a:xfrm>
          <a:prstGeom prst="rect">
            <a:avLst/>
          </a:prstGeom>
          <a:noFill/>
          <a:ln/>
        </p:spPr>
        <p:txBody>
          <a:bodyPr wrap="square" lIns="0" tIns="0" rIns="0" bIns="0" rtlCol="0" anchor="ctr"/>
          <a:lstStyle/>
          <a:p>
            <a:pPr indent="0" marL="0">
              <a:buNone/>
            </a:pPr>
            <a:r>
              <a:rPr lang="en-US" sz="3800" b="1" dirty="0">
                <a:solidFill>
                  <a:srgbClr val="FFD700"/>
                </a:solidFill>
                <a:latin typeface="Arial Black" pitchFamily="34" charset="0"/>
                <a:ea typeface="Arial Black" pitchFamily="34" charset="-122"/>
                <a:cs typeface="Arial Black" pitchFamily="34" charset="-120"/>
              </a:rPr>
              <a:t>£1.1B+</a:t>
            </a:r>
            <a:endParaRPr lang="en-US" sz="3800" dirty="0"/>
          </a:p>
        </p:txBody>
      </p:sp>
      <p:sp>
        <p:nvSpPr>
          <p:cNvPr id="12" name="Text 10"/>
          <p:cNvSpPr/>
          <p:nvPr/>
        </p:nvSpPr>
        <p:spPr>
          <a:xfrm>
            <a:off x="3456432" y="1810512"/>
            <a:ext cx="2286000" cy="34747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paid in fines by UK</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motorists per year</a:t>
            </a:r>
            <a:endParaRPr lang="en-US" sz="1000" dirty="0"/>
          </a:p>
        </p:txBody>
      </p:sp>
      <p:sp>
        <p:nvSpPr>
          <p:cNvPr id="13" name="Text 11"/>
          <p:cNvSpPr/>
          <p:nvPr/>
        </p:nvSpPr>
        <p:spPr>
          <a:xfrm>
            <a:off x="3456432" y="2157984"/>
            <a:ext cx="2286000" cy="155448"/>
          </a:xfrm>
          <a:prstGeom prst="rect">
            <a:avLst/>
          </a:prstGeom>
          <a:noFill/>
          <a:ln/>
        </p:spPr>
        <p:txBody>
          <a:bodyPr wrap="square" lIns="0" tIns="0" rIns="0" bIns="0" rtlCol="0" anchor="ctr"/>
          <a:lstStyle/>
          <a:p>
            <a:pPr indent="0" marL="0">
              <a:buNone/>
            </a:pPr>
            <a:r>
              <a:rPr lang="en-US" sz="700" i="1" dirty="0">
                <a:solidFill>
                  <a:srgbClr val="888888"/>
                </a:solidFill>
                <a:latin typeface="Calibri" pitchFamily="34" charset="0"/>
                <a:ea typeface="Calibri" pitchFamily="34" charset="-122"/>
                <a:cs typeface="Calibri" pitchFamily="34" charset="-120"/>
              </a:rPr>
              <a:t>RAC / Fleet News 2024</a:t>
            </a:r>
            <a:endParaRPr lang="en-US" sz="700" dirty="0"/>
          </a:p>
        </p:txBody>
      </p:sp>
      <p:sp>
        <p:nvSpPr>
          <p:cNvPr id="14" name="Shape 12"/>
          <p:cNvSpPr/>
          <p:nvPr/>
        </p:nvSpPr>
        <p:spPr>
          <a:xfrm>
            <a:off x="6126480" y="1234440"/>
            <a:ext cx="2606040" cy="114300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15" name="Text 13"/>
          <p:cNvSpPr/>
          <p:nvPr/>
        </p:nvSpPr>
        <p:spPr>
          <a:xfrm>
            <a:off x="6291072" y="1298448"/>
            <a:ext cx="2286000" cy="548640"/>
          </a:xfrm>
          <a:prstGeom prst="rect">
            <a:avLst/>
          </a:prstGeom>
          <a:noFill/>
          <a:ln/>
        </p:spPr>
        <p:txBody>
          <a:bodyPr wrap="square" lIns="0" tIns="0" rIns="0" bIns="0" rtlCol="0" anchor="ctr"/>
          <a:lstStyle/>
          <a:p>
            <a:pPr indent="0" marL="0">
              <a:buNone/>
            </a:pPr>
            <a:r>
              <a:rPr lang="en-US" sz="3800" b="1" dirty="0">
                <a:solidFill>
                  <a:srgbClr val="FFD700"/>
                </a:solidFill>
                <a:latin typeface="Arial Black" pitchFamily="34" charset="0"/>
                <a:ea typeface="Arial Black" pitchFamily="34" charset="-122"/>
                <a:cs typeface="Arial Black" pitchFamily="34" charset="-120"/>
              </a:rPr>
              <a:t>+24%</a:t>
            </a:r>
            <a:endParaRPr lang="en-US" sz="3800" dirty="0"/>
          </a:p>
        </p:txBody>
      </p:sp>
      <p:sp>
        <p:nvSpPr>
          <p:cNvPr id="16" name="Text 14"/>
          <p:cNvSpPr/>
          <p:nvPr/>
        </p:nvSpPr>
        <p:spPr>
          <a:xfrm>
            <a:off x="6291072" y="1810512"/>
            <a:ext cx="2286000" cy="34747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year-on-year rise in</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private parking tickets</a:t>
            </a:r>
            <a:endParaRPr lang="en-US" sz="1000" dirty="0"/>
          </a:p>
        </p:txBody>
      </p:sp>
      <p:sp>
        <p:nvSpPr>
          <p:cNvPr id="17" name="Text 15"/>
          <p:cNvSpPr/>
          <p:nvPr/>
        </p:nvSpPr>
        <p:spPr>
          <a:xfrm>
            <a:off x="6291072" y="2157984"/>
            <a:ext cx="2286000" cy="155448"/>
          </a:xfrm>
          <a:prstGeom prst="rect">
            <a:avLst/>
          </a:prstGeom>
          <a:noFill/>
          <a:ln/>
        </p:spPr>
        <p:txBody>
          <a:bodyPr wrap="square" lIns="0" tIns="0" rIns="0" bIns="0" rtlCol="0" anchor="ctr"/>
          <a:lstStyle/>
          <a:p>
            <a:pPr indent="0" marL="0">
              <a:buNone/>
            </a:pPr>
            <a:r>
              <a:rPr lang="en-US" sz="700" i="1" dirty="0">
                <a:solidFill>
                  <a:srgbClr val="888888"/>
                </a:solidFill>
                <a:latin typeface="Calibri" pitchFamily="34" charset="0"/>
                <a:ea typeface="Calibri" pitchFamily="34" charset="-122"/>
                <a:cs typeface="Calibri" pitchFamily="34" charset="-120"/>
              </a:rPr>
              <a:t>GB News / RAC Drive 2025</a:t>
            </a:r>
            <a:endParaRPr lang="en-US" sz="700" dirty="0"/>
          </a:p>
        </p:txBody>
      </p:sp>
      <p:sp>
        <p:nvSpPr>
          <p:cNvPr id="18" name="Text 16"/>
          <p:cNvSpPr/>
          <p:nvPr/>
        </p:nvSpPr>
        <p:spPr>
          <a:xfrm>
            <a:off x="502920" y="2404872"/>
            <a:ext cx="8138160" cy="256032"/>
          </a:xfrm>
          <a:prstGeom prst="rect">
            <a:avLst/>
          </a:prstGeom>
          <a:noFill/>
          <a:ln/>
        </p:spPr>
        <p:txBody>
          <a:bodyPr wrap="square" lIns="0" tIns="0" rIns="0" bIns="0" rtlCol="0" anchor="ctr"/>
          <a:lstStyle/>
          <a:p>
            <a:pPr indent="0" marL="0">
              <a:buNone/>
            </a:pPr>
            <a:r>
              <a:rPr lang="en-US" sz="1150" i="1" dirty="0">
                <a:solidFill>
                  <a:srgbClr val="888888"/>
                </a:solidFill>
                <a:latin typeface="Calibri" pitchFamily="34" charset="0"/>
                <a:ea typeface="Calibri" pitchFamily="34" charset="-122"/>
                <a:cs typeface="Calibri" pitchFamily="34" charset="-120"/>
              </a:rPr>
              <a:t>But the real burden falls on those who park out of professional necessity — not choice.</a:t>
            </a:r>
            <a:endParaRPr lang="en-US" sz="1150" dirty="0"/>
          </a:p>
        </p:txBody>
      </p:sp>
      <p:sp>
        <p:nvSpPr>
          <p:cNvPr id="19" name="Shape 17"/>
          <p:cNvSpPr/>
          <p:nvPr/>
        </p:nvSpPr>
        <p:spPr>
          <a:xfrm>
            <a:off x="457200" y="2715768"/>
            <a:ext cx="2606040" cy="228600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20" name="Shape 18"/>
          <p:cNvSpPr/>
          <p:nvPr/>
        </p:nvSpPr>
        <p:spPr>
          <a:xfrm>
            <a:off x="457200" y="2715768"/>
            <a:ext cx="50292" cy="2286000"/>
          </a:xfrm>
          <a:prstGeom prst="rect">
            <a:avLst/>
          </a:prstGeom>
          <a:solidFill>
            <a:srgbClr val="FFD700"/>
          </a:solidFill>
          <a:ln w="12700">
            <a:solidFill>
              <a:srgbClr val="FFD700"/>
            </a:solidFill>
            <a:prstDash val="solid"/>
          </a:ln>
        </p:spPr>
      </p:sp>
      <p:sp>
        <p:nvSpPr>
          <p:cNvPr id="21" name="Text 19"/>
          <p:cNvSpPr/>
          <p:nvPr/>
        </p:nvSpPr>
        <p:spPr>
          <a:xfrm>
            <a:off x="640080" y="2807208"/>
            <a:ext cx="2331720" cy="201168"/>
          </a:xfrm>
          <a:prstGeom prst="rect">
            <a:avLst/>
          </a:prstGeom>
          <a:noFill/>
          <a:ln/>
        </p:spPr>
        <p:txBody>
          <a:bodyPr wrap="square" lIns="0" tIns="0" rIns="0" bIns="0" rtlCol="0" anchor="ctr"/>
          <a:lstStyle/>
          <a:p>
            <a:pPr indent="0" marL="0">
              <a:buNone/>
            </a:pPr>
            <a:r>
              <a:rPr lang="en-US" sz="800" b="1" spc="200" kern="0" dirty="0">
                <a:solidFill>
                  <a:srgbClr val="FFD700"/>
                </a:solidFill>
                <a:latin typeface="Calibri" pitchFamily="34" charset="0"/>
                <a:ea typeface="Calibri" pitchFamily="34" charset="-122"/>
                <a:cs typeface="Calibri" pitchFamily="34" charset="-120"/>
              </a:rPr>
              <a:t>TRADESPEOPLE</a:t>
            </a:r>
            <a:endParaRPr lang="en-US" sz="800" dirty="0"/>
          </a:p>
        </p:txBody>
      </p:sp>
      <p:sp>
        <p:nvSpPr>
          <p:cNvPr id="22" name="Text 20"/>
          <p:cNvSpPr/>
          <p:nvPr/>
        </p:nvSpPr>
        <p:spPr>
          <a:xfrm>
            <a:off x="640080" y="2990088"/>
            <a:ext cx="2331720" cy="457200"/>
          </a:xfrm>
          <a:prstGeom prst="rect">
            <a:avLst/>
          </a:prstGeom>
          <a:noFill/>
          <a:ln/>
        </p:spPr>
        <p:txBody>
          <a:bodyPr wrap="square" lIns="0" tIns="0" rIns="0" bIns="0"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£443</a:t>
            </a:r>
            <a:endParaRPr lang="en-US" sz="3000" dirty="0"/>
          </a:p>
        </p:txBody>
      </p:sp>
      <p:sp>
        <p:nvSpPr>
          <p:cNvPr id="23" name="Text 21"/>
          <p:cNvSpPr/>
          <p:nvPr/>
        </p:nvSpPr>
        <p:spPr>
          <a:xfrm>
            <a:off x="640080" y="3429000"/>
            <a:ext cx="2331720" cy="329184"/>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avg. out-of-pocket cost per</a:t>
            </a:r>
            <a:endParaRPr lang="en-US" sz="900" dirty="0"/>
          </a:p>
          <a:p>
            <a:pPr indent="0" marL="0">
              <a:buNone/>
            </a:pPr>
            <a:r>
              <a:rPr lang="en-US" sz="900" dirty="0">
                <a:solidFill>
                  <a:srgbClr val="888888"/>
                </a:solidFill>
                <a:latin typeface="Calibri" pitchFamily="34" charset="0"/>
                <a:ea typeface="Calibri" pitchFamily="34" charset="-122"/>
                <a:cs typeface="Calibri" pitchFamily="34" charset="-120"/>
              </a:rPr>
              <a:t>tradesperson per year</a:t>
            </a:r>
            <a:endParaRPr lang="en-US" sz="900" dirty="0"/>
          </a:p>
        </p:txBody>
      </p:sp>
      <p:sp>
        <p:nvSpPr>
          <p:cNvPr id="24" name="Shape 22"/>
          <p:cNvSpPr/>
          <p:nvPr/>
        </p:nvSpPr>
        <p:spPr>
          <a:xfrm>
            <a:off x="640080" y="3776472"/>
            <a:ext cx="2240280" cy="13716"/>
          </a:xfrm>
          <a:prstGeom prst="rect">
            <a:avLst/>
          </a:prstGeom>
          <a:solidFill>
            <a:srgbClr val="333333"/>
          </a:solidFill>
          <a:ln w="12700">
            <a:solidFill>
              <a:srgbClr val="333333"/>
            </a:solidFill>
            <a:prstDash val="solid"/>
          </a:ln>
        </p:spPr>
      </p:sp>
      <p:sp>
        <p:nvSpPr>
          <p:cNvPr id="25" name="Text 23"/>
          <p:cNvSpPr/>
          <p:nvPr/>
        </p:nvSpPr>
        <p:spPr>
          <a:xfrm>
            <a:off x="640080" y="3849624"/>
            <a:ext cx="822960" cy="246888"/>
          </a:xfrm>
          <a:prstGeom prst="rect">
            <a:avLst/>
          </a:prstGeom>
          <a:noFill/>
          <a:ln/>
        </p:spPr>
        <p:txBody>
          <a:bodyPr wrap="square" lIns="0" tIns="0" rIns="0" bIns="0" rtlCol="0" anchor="ctr"/>
          <a:lstStyle/>
          <a:p>
            <a:pPr indent="0" marL="0">
              <a:buNone/>
            </a:pPr>
            <a:r>
              <a:rPr lang="en-US" sz="950" b="1" dirty="0">
                <a:solidFill>
                  <a:srgbClr val="FFD700"/>
                </a:solidFill>
                <a:latin typeface="Arial Black" pitchFamily="34" charset="0"/>
                <a:ea typeface="Arial Black" pitchFamily="34" charset="-122"/>
                <a:cs typeface="Arial Black" pitchFamily="34" charset="-120"/>
              </a:rPr>
              <a:t>£119M</a:t>
            </a:r>
            <a:endParaRPr lang="en-US" sz="950" dirty="0"/>
          </a:p>
        </p:txBody>
      </p:sp>
      <p:sp>
        <p:nvSpPr>
          <p:cNvPr id="26" name="Text 24"/>
          <p:cNvSpPr/>
          <p:nvPr/>
        </p:nvSpPr>
        <p:spPr>
          <a:xfrm>
            <a:off x="1481328" y="3849624"/>
            <a:ext cx="1572768" cy="24688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total annual cost to the UK trades sector</a:t>
            </a:r>
            <a:endParaRPr lang="en-US" sz="850" dirty="0"/>
          </a:p>
        </p:txBody>
      </p:sp>
      <p:sp>
        <p:nvSpPr>
          <p:cNvPr id="27" name="Text 25"/>
          <p:cNvSpPr/>
          <p:nvPr/>
        </p:nvSpPr>
        <p:spPr>
          <a:xfrm>
            <a:off x="640080" y="4123944"/>
            <a:ext cx="822960" cy="246888"/>
          </a:xfrm>
          <a:prstGeom prst="rect">
            <a:avLst/>
          </a:prstGeom>
          <a:noFill/>
          <a:ln/>
        </p:spPr>
        <p:txBody>
          <a:bodyPr wrap="square" lIns="0" tIns="0" rIns="0" bIns="0" rtlCol="0" anchor="ctr"/>
          <a:lstStyle/>
          <a:p>
            <a:pPr indent="0" marL="0">
              <a:buNone/>
            </a:pPr>
            <a:r>
              <a:rPr lang="en-US" sz="950" b="1" dirty="0">
                <a:solidFill>
                  <a:srgbClr val="FFD700"/>
                </a:solidFill>
                <a:latin typeface="Arial Black" pitchFamily="34" charset="0"/>
                <a:ea typeface="Arial Black" pitchFamily="34" charset="-122"/>
                <a:cs typeface="Arial Black" pitchFamily="34" charset="-120"/>
              </a:rPr>
              <a:t>£6,000</a:t>
            </a:r>
            <a:endParaRPr lang="en-US" sz="950" dirty="0"/>
          </a:p>
        </p:txBody>
      </p:sp>
      <p:sp>
        <p:nvSpPr>
          <p:cNvPr id="28" name="Text 26"/>
          <p:cNvSpPr/>
          <p:nvPr/>
        </p:nvSpPr>
        <p:spPr>
          <a:xfrm>
            <a:off x="1481328" y="4123944"/>
            <a:ext cx="1572768" cy="24688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lost by some tradespeople in fines alone</a:t>
            </a:r>
            <a:endParaRPr lang="en-US" sz="850" dirty="0"/>
          </a:p>
        </p:txBody>
      </p:sp>
      <p:sp>
        <p:nvSpPr>
          <p:cNvPr id="29" name="Text 27"/>
          <p:cNvSpPr/>
          <p:nvPr/>
        </p:nvSpPr>
        <p:spPr>
          <a:xfrm>
            <a:off x="640080" y="4398264"/>
            <a:ext cx="822960" cy="246888"/>
          </a:xfrm>
          <a:prstGeom prst="rect">
            <a:avLst/>
          </a:prstGeom>
          <a:noFill/>
          <a:ln/>
        </p:spPr>
        <p:txBody>
          <a:bodyPr wrap="square" lIns="0" tIns="0" rIns="0" bIns="0" rtlCol="0" anchor="ctr"/>
          <a:lstStyle/>
          <a:p>
            <a:pPr indent="0" marL="0">
              <a:buNone/>
            </a:pPr>
            <a:r>
              <a:rPr lang="en-US" sz="950" b="1" dirty="0">
                <a:solidFill>
                  <a:srgbClr val="FFD700"/>
                </a:solidFill>
                <a:latin typeface="Arial Black" pitchFamily="34" charset="0"/>
                <a:ea typeface="Arial Black" pitchFamily="34" charset="-122"/>
                <a:cs typeface="Arial Black" pitchFamily="34" charset="-120"/>
              </a:rPr>
              <a:t>81%</a:t>
            </a:r>
            <a:endParaRPr lang="en-US" sz="950" dirty="0"/>
          </a:p>
        </p:txBody>
      </p:sp>
      <p:sp>
        <p:nvSpPr>
          <p:cNvPr id="30" name="Text 28"/>
          <p:cNvSpPr/>
          <p:nvPr/>
        </p:nvSpPr>
        <p:spPr>
          <a:xfrm>
            <a:off x="1481328" y="4398264"/>
            <a:ext cx="1572768" cy="24688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struggle to find legal parking at least weekly</a:t>
            </a:r>
            <a:endParaRPr lang="en-US" sz="850" dirty="0"/>
          </a:p>
        </p:txBody>
      </p:sp>
      <p:sp>
        <p:nvSpPr>
          <p:cNvPr id="31" name="Text 29"/>
          <p:cNvSpPr/>
          <p:nvPr/>
        </p:nvSpPr>
        <p:spPr>
          <a:xfrm>
            <a:off x="640080" y="4672584"/>
            <a:ext cx="822960" cy="246888"/>
          </a:xfrm>
          <a:prstGeom prst="rect">
            <a:avLst/>
          </a:prstGeom>
          <a:noFill/>
          <a:ln/>
        </p:spPr>
        <p:txBody>
          <a:bodyPr wrap="square" lIns="0" tIns="0" rIns="0" bIns="0" rtlCol="0" anchor="ctr"/>
          <a:lstStyle/>
          <a:p>
            <a:pPr indent="0" marL="0">
              <a:buNone/>
            </a:pPr>
            <a:r>
              <a:rPr lang="en-US" sz="950" b="1" dirty="0">
                <a:solidFill>
                  <a:srgbClr val="FFD700"/>
                </a:solidFill>
                <a:latin typeface="Arial Black" pitchFamily="34" charset="0"/>
                <a:ea typeface="Arial Black" pitchFamily="34" charset="-122"/>
                <a:cs typeface="Arial Black" pitchFamily="34" charset="-120"/>
              </a:rPr>
              <a:t>48%</a:t>
            </a:r>
            <a:endParaRPr lang="en-US" sz="950" dirty="0"/>
          </a:p>
        </p:txBody>
      </p:sp>
      <p:sp>
        <p:nvSpPr>
          <p:cNvPr id="32" name="Text 30"/>
          <p:cNvSpPr/>
          <p:nvPr/>
        </p:nvSpPr>
        <p:spPr>
          <a:xfrm>
            <a:off x="1481328" y="4672584"/>
            <a:ext cx="1572768" cy="24688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have turned down jobs due to parking constraints</a:t>
            </a:r>
            <a:endParaRPr lang="en-US" sz="850" dirty="0"/>
          </a:p>
        </p:txBody>
      </p:sp>
      <p:sp>
        <p:nvSpPr>
          <p:cNvPr id="33" name="Shape 31"/>
          <p:cNvSpPr/>
          <p:nvPr/>
        </p:nvSpPr>
        <p:spPr>
          <a:xfrm>
            <a:off x="3291840" y="2715768"/>
            <a:ext cx="2606040" cy="228600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34" name="Shape 32"/>
          <p:cNvSpPr/>
          <p:nvPr/>
        </p:nvSpPr>
        <p:spPr>
          <a:xfrm>
            <a:off x="3291840" y="2715768"/>
            <a:ext cx="50292" cy="2286000"/>
          </a:xfrm>
          <a:prstGeom prst="rect">
            <a:avLst/>
          </a:prstGeom>
          <a:solidFill>
            <a:srgbClr val="FFD700"/>
          </a:solidFill>
          <a:ln w="12700">
            <a:solidFill>
              <a:srgbClr val="FFD700"/>
            </a:solidFill>
            <a:prstDash val="solid"/>
          </a:ln>
        </p:spPr>
      </p:sp>
      <p:sp>
        <p:nvSpPr>
          <p:cNvPr id="35" name="Text 33"/>
          <p:cNvSpPr/>
          <p:nvPr/>
        </p:nvSpPr>
        <p:spPr>
          <a:xfrm>
            <a:off x="3474720" y="2807208"/>
            <a:ext cx="2331720" cy="201168"/>
          </a:xfrm>
          <a:prstGeom prst="rect">
            <a:avLst/>
          </a:prstGeom>
          <a:noFill/>
          <a:ln/>
        </p:spPr>
        <p:txBody>
          <a:bodyPr wrap="square" lIns="0" tIns="0" rIns="0" bIns="0" rtlCol="0" anchor="ctr"/>
          <a:lstStyle/>
          <a:p>
            <a:pPr indent="0" marL="0">
              <a:buNone/>
            </a:pPr>
            <a:r>
              <a:rPr lang="en-US" sz="800" b="1" spc="200" kern="0" dirty="0">
                <a:solidFill>
                  <a:srgbClr val="FFD700"/>
                </a:solidFill>
                <a:latin typeface="Calibri" pitchFamily="34" charset="0"/>
                <a:ea typeface="Calibri" pitchFamily="34" charset="-122"/>
                <a:cs typeface="Calibri" pitchFamily="34" charset="-120"/>
              </a:rPr>
              <a:t>NHS WORKERS</a:t>
            </a:r>
            <a:endParaRPr lang="en-US" sz="800" dirty="0"/>
          </a:p>
        </p:txBody>
      </p:sp>
      <p:sp>
        <p:nvSpPr>
          <p:cNvPr id="36" name="Text 34"/>
          <p:cNvSpPr/>
          <p:nvPr/>
        </p:nvSpPr>
        <p:spPr>
          <a:xfrm>
            <a:off x="3474720" y="2990088"/>
            <a:ext cx="2331720" cy="457200"/>
          </a:xfrm>
          <a:prstGeom prst="rect">
            <a:avLst/>
          </a:prstGeom>
          <a:noFill/>
          <a:ln/>
        </p:spPr>
        <p:txBody>
          <a:bodyPr wrap="square" lIns="0" tIns="0" rIns="0" bIns="0"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£70M+</a:t>
            </a:r>
            <a:endParaRPr lang="en-US" sz="3000" dirty="0"/>
          </a:p>
        </p:txBody>
      </p:sp>
      <p:sp>
        <p:nvSpPr>
          <p:cNvPr id="37" name="Text 35"/>
          <p:cNvSpPr/>
          <p:nvPr/>
        </p:nvSpPr>
        <p:spPr>
          <a:xfrm>
            <a:off x="3474720" y="3429000"/>
            <a:ext cx="2331720" cy="329184"/>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paid by NHS workers in</a:t>
            </a:r>
            <a:endParaRPr lang="en-US" sz="900" dirty="0"/>
          </a:p>
          <a:p>
            <a:pPr indent="0" marL="0">
              <a:buNone/>
            </a:pPr>
            <a:r>
              <a:rPr lang="en-US" sz="900" dirty="0">
                <a:solidFill>
                  <a:srgbClr val="888888"/>
                </a:solidFill>
                <a:latin typeface="Calibri" pitchFamily="34" charset="0"/>
                <a:ea typeface="Calibri" pitchFamily="34" charset="-122"/>
                <a:cs typeface="Calibri" pitchFamily="34" charset="-120"/>
              </a:rPr>
              <a:t>parking fees in 2023/24</a:t>
            </a:r>
            <a:endParaRPr lang="en-US" sz="900" dirty="0"/>
          </a:p>
        </p:txBody>
      </p:sp>
      <p:sp>
        <p:nvSpPr>
          <p:cNvPr id="38" name="Shape 36"/>
          <p:cNvSpPr/>
          <p:nvPr/>
        </p:nvSpPr>
        <p:spPr>
          <a:xfrm>
            <a:off x="3474720" y="3776472"/>
            <a:ext cx="2240280" cy="13716"/>
          </a:xfrm>
          <a:prstGeom prst="rect">
            <a:avLst/>
          </a:prstGeom>
          <a:solidFill>
            <a:srgbClr val="333333"/>
          </a:solidFill>
          <a:ln w="12700">
            <a:solidFill>
              <a:srgbClr val="333333"/>
            </a:solidFill>
            <a:prstDash val="solid"/>
          </a:ln>
        </p:spPr>
      </p:sp>
      <p:sp>
        <p:nvSpPr>
          <p:cNvPr id="39" name="Text 37"/>
          <p:cNvSpPr/>
          <p:nvPr/>
        </p:nvSpPr>
        <p:spPr>
          <a:xfrm>
            <a:off x="3474720" y="3849624"/>
            <a:ext cx="822960" cy="246888"/>
          </a:xfrm>
          <a:prstGeom prst="rect">
            <a:avLst/>
          </a:prstGeom>
          <a:noFill/>
          <a:ln/>
        </p:spPr>
        <p:txBody>
          <a:bodyPr wrap="square" lIns="0" tIns="0" rIns="0" bIns="0" rtlCol="0" anchor="ctr"/>
          <a:lstStyle/>
          <a:p>
            <a:pPr indent="0" marL="0">
              <a:buNone/>
            </a:pPr>
            <a:r>
              <a:rPr lang="en-US" sz="950" b="1" dirty="0">
                <a:solidFill>
                  <a:srgbClr val="FFD700"/>
                </a:solidFill>
                <a:latin typeface="Arial Black" pitchFamily="34" charset="0"/>
                <a:ea typeface="Arial Black" pitchFamily="34" charset="-122"/>
                <a:cs typeface="Arial Black" pitchFamily="34" charset="-120"/>
              </a:rPr>
              <a:t>25,000+</a:t>
            </a:r>
            <a:endParaRPr lang="en-US" sz="950" dirty="0"/>
          </a:p>
        </p:txBody>
      </p:sp>
      <p:sp>
        <p:nvSpPr>
          <p:cNvPr id="40" name="Text 38"/>
          <p:cNvSpPr/>
          <p:nvPr/>
        </p:nvSpPr>
        <p:spPr>
          <a:xfrm>
            <a:off x="4315968" y="3849624"/>
            <a:ext cx="1572768" cy="24688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fines from just 17 of England's 300+ NHS trusts</a:t>
            </a:r>
            <a:endParaRPr lang="en-US" sz="850" dirty="0"/>
          </a:p>
        </p:txBody>
      </p:sp>
      <p:sp>
        <p:nvSpPr>
          <p:cNvPr id="41" name="Text 39"/>
          <p:cNvSpPr/>
          <p:nvPr/>
        </p:nvSpPr>
        <p:spPr>
          <a:xfrm>
            <a:off x="3474720" y="4123944"/>
            <a:ext cx="822960" cy="246888"/>
          </a:xfrm>
          <a:prstGeom prst="rect">
            <a:avLst/>
          </a:prstGeom>
          <a:noFill/>
          <a:ln/>
        </p:spPr>
        <p:txBody>
          <a:bodyPr wrap="square" lIns="0" tIns="0" rIns="0" bIns="0" rtlCol="0" anchor="ctr"/>
          <a:lstStyle/>
          <a:p>
            <a:pPr indent="0" marL="0">
              <a:buNone/>
            </a:pPr>
            <a:r>
              <a:rPr lang="en-US" sz="950" b="1" dirty="0">
                <a:solidFill>
                  <a:srgbClr val="FFD700"/>
                </a:solidFill>
                <a:latin typeface="Arial Black" pitchFamily="34" charset="0"/>
                <a:ea typeface="Arial Black" pitchFamily="34" charset="-122"/>
                <a:cs typeface="Arial Black" pitchFamily="34" charset="-120"/>
              </a:rPr>
              <a:t>72%</a:t>
            </a:r>
            <a:endParaRPr lang="en-US" sz="950" dirty="0"/>
          </a:p>
        </p:txBody>
      </p:sp>
      <p:sp>
        <p:nvSpPr>
          <p:cNvPr id="42" name="Text 40"/>
          <p:cNvSpPr/>
          <p:nvPr/>
        </p:nvSpPr>
        <p:spPr>
          <a:xfrm>
            <a:off x="4315968" y="4123944"/>
            <a:ext cx="1572768" cy="24688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of hospital workers pay to park at their own workplace</a:t>
            </a:r>
            <a:endParaRPr lang="en-US" sz="850" dirty="0"/>
          </a:p>
        </p:txBody>
      </p:sp>
      <p:sp>
        <p:nvSpPr>
          <p:cNvPr id="43" name="Text 41"/>
          <p:cNvSpPr/>
          <p:nvPr/>
        </p:nvSpPr>
        <p:spPr>
          <a:xfrm>
            <a:off x="3474720" y="4398264"/>
            <a:ext cx="822960" cy="246888"/>
          </a:xfrm>
          <a:prstGeom prst="rect">
            <a:avLst/>
          </a:prstGeom>
          <a:noFill/>
          <a:ln/>
        </p:spPr>
        <p:txBody>
          <a:bodyPr wrap="square" lIns="0" tIns="0" rIns="0" bIns="0" rtlCol="0" anchor="ctr"/>
          <a:lstStyle/>
          <a:p>
            <a:pPr indent="0" marL="0">
              <a:buNone/>
            </a:pPr>
            <a:r>
              <a:rPr lang="en-US" sz="950" b="1" dirty="0">
                <a:solidFill>
                  <a:srgbClr val="FFD700"/>
                </a:solidFill>
                <a:latin typeface="Arial Black" pitchFamily="34" charset="0"/>
                <a:ea typeface="Arial Black" pitchFamily="34" charset="-122"/>
                <a:cs typeface="Arial Black" pitchFamily="34" charset="-120"/>
              </a:rPr>
              <a:t>£15,000</a:t>
            </a:r>
            <a:endParaRPr lang="en-US" sz="950" dirty="0"/>
          </a:p>
        </p:txBody>
      </p:sp>
      <p:sp>
        <p:nvSpPr>
          <p:cNvPr id="44" name="Text 42"/>
          <p:cNvSpPr/>
          <p:nvPr/>
        </p:nvSpPr>
        <p:spPr>
          <a:xfrm>
            <a:off x="4315968" y="4398264"/>
            <a:ext cx="1572768" cy="24688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accumulated by one NHS worker across ~200 tickets</a:t>
            </a:r>
            <a:endParaRPr lang="en-US" sz="850" dirty="0"/>
          </a:p>
        </p:txBody>
      </p:sp>
      <p:sp>
        <p:nvSpPr>
          <p:cNvPr id="45" name="Text 43"/>
          <p:cNvSpPr/>
          <p:nvPr/>
        </p:nvSpPr>
        <p:spPr>
          <a:xfrm>
            <a:off x="3474720" y="4672584"/>
            <a:ext cx="822960" cy="246888"/>
          </a:xfrm>
          <a:prstGeom prst="rect">
            <a:avLst/>
          </a:prstGeom>
          <a:noFill/>
          <a:ln/>
        </p:spPr>
        <p:txBody>
          <a:bodyPr wrap="square" lIns="0" tIns="0" rIns="0" bIns="0" rtlCol="0" anchor="ctr"/>
          <a:lstStyle/>
          <a:p>
            <a:pPr indent="0" marL="0">
              <a:buNone/>
            </a:pPr>
            <a:r>
              <a:rPr lang="en-US" sz="950" b="1" dirty="0">
                <a:solidFill>
                  <a:srgbClr val="FFD700"/>
                </a:solidFill>
                <a:latin typeface="Arial Black" pitchFamily="34" charset="0"/>
                <a:ea typeface="Arial Black" pitchFamily="34" charset="-122"/>
                <a:cs typeface="Arial Black" pitchFamily="34" charset="-120"/>
              </a:rPr>
              <a:t>1M+</a:t>
            </a:r>
            <a:endParaRPr lang="en-US" sz="950" dirty="0"/>
          </a:p>
        </p:txBody>
      </p:sp>
      <p:sp>
        <p:nvSpPr>
          <p:cNvPr id="46" name="Text 44"/>
          <p:cNvSpPr/>
          <p:nvPr/>
        </p:nvSpPr>
        <p:spPr>
          <a:xfrm>
            <a:off x="4315968" y="4672584"/>
            <a:ext cx="1572768" cy="24688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NHS staff in England who regularly drive to work</a:t>
            </a:r>
            <a:endParaRPr lang="en-US" sz="850" dirty="0"/>
          </a:p>
        </p:txBody>
      </p:sp>
      <p:sp>
        <p:nvSpPr>
          <p:cNvPr id="47" name="Shape 45"/>
          <p:cNvSpPr/>
          <p:nvPr/>
        </p:nvSpPr>
        <p:spPr>
          <a:xfrm>
            <a:off x="6126480" y="2715768"/>
            <a:ext cx="2606040" cy="228600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48" name="Shape 46"/>
          <p:cNvSpPr/>
          <p:nvPr/>
        </p:nvSpPr>
        <p:spPr>
          <a:xfrm>
            <a:off x="6126480" y="2715768"/>
            <a:ext cx="50292" cy="2286000"/>
          </a:xfrm>
          <a:prstGeom prst="rect">
            <a:avLst/>
          </a:prstGeom>
          <a:solidFill>
            <a:srgbClr val="FFD700"/>
          </a:solidFill>
          <a:ln w="12700">
            <a:solidFill>
              <a:srgbClr val="FFD700"/>
            </a:solidFill>
            <a:prstDash val="solid"/>
          </a:ln>
        </p:spPr>
      </p:sp>
      <p:sp>
        <p:nvSpPr>
          <p:cNvPr id="49" name="Text 47"/>
          <p:cNvSpPr/>
          <p:nvPr/>
        </p:nvSpPr>
        <p:spPr>
          <a:xfrm>
            <a:off x="6309360" y="2807208"/>
            <a:ext cx="2331720" cy="201168"/>
          </a:xfrm>
          <a:prstGeom prst="rect">
            <a:avLst/>
          </a:prstGeom>
          <a:noFill/>
          <a:ln/>
        </p:spPr>
        <p:txBody>
          <a:bodyPr wrap="square" lIns="0" tIns="0" rIns="0" bIns="0" rtlCol="0" anchor="ctr"/>
          <a:lstStyle/>
          <a:p>
            <a:pPr indent="0" marL="0">
              <a:buNone/>
            </a:pPr>
            <a:r>
              <a:rPr lang="en-US" sz="800" b="1" spc="200" kern="0" dirty="0">
                <a:solidFill>
                  <a:srgbClr val="FFD700"/>
                </a:solidFill>
                <a:latin typeface="Calibri" pitchFamily="34" charset="0"/>
                <a:ea typeface="Calibri" pitchFamily="34" charset="-122"/>
                <a:cs typeface="Calibri" pitchFamily="34" charset="-120"/>
              </a:rPr>
              <a:t>DELIVERY DRIVERS</a:t>
            </a:r>
            <a:endParaRPr lang="en-US" sz="800" dirty="0"/>
          </a:p>
        </p:txBody>
      </p:sp>
      <p:sp>
        <p:nvSpPr>
          <p:cNvPr id="50" name="Text 48"/>
          <p:cNvSpPr/>
          <p:nvPr/>
        </p:nvSpPr>
        <p:spPr>
          <a:xfrm>
            <a:off x="6309360" y="2990088"/>
            <a:ext cx="2331720" cy="457200"/>
          </a:xfrm>
          <a:prstGeom prst="rect">
            <a:avLst/>
          </a:prstGeom>
          <a:noFill/>
          <a:ln/>
        </p:spPr>
        <p:txBody>
          <a:bodyPr wrap="square" lIns="0" tIns="0" rIns="0" bIns="0"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14.4M</a:t>
            </a:r>
            <a:endParaRPr lang="en-US" sz="3000" dirty="0"/>
          </a:p>
        </p:txBody>
      </p:sp>
      <p:sp>
        <p:nvSpPr>
          <p:cNvPr id="51" name="Text 49"/>
          <p:cNvSpPr/>
          <p:nvPr/>
        </p:nvSpPr>
        <p:spPr>
          <a:xfrm>
            <a:off x="6309360" y="3429000"/>
            <a:ext cx="2331720" cy="329184"/>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private parking tickets issued</a:t>
            </a:r>
            <a:endParaRPr lang="en-US" sz="900" dirty="0"/>
          </a:p>
          <a:p>
            <a:pPr indent="0" marL="0">
              <a:buNone/>
            </a:pPr>
            <a:r>
              <a:rPr lang="en-US" sz="900" dirty="0">
                <a:solidFill>
                  <a:srgbClr val="888888"/>
                </a:solidFill>
                <a:latin typeface="Calibri" pitchFamily="34" charset="0"/>
                <a:ea typeface="Calibri" pitchFamily="34" charset="-122"/>
                <a:cs typeface="Calibri" pitchFamily="34" charset="-120"/>
              </a:rPr>
              <a:t>to the delivery sector (+13%)</a:t>
            </a:r>
            <a:endParaRPr lang="en-US" sz="900" dirty="0"/>
          </a:p>
        </p:txBody>
      </p:sp>
      <p:sp>
        <p:nvSpPr>
          <p:cNvPr id="52" name="Shape 50"/>
          <p:cNvSpPr/>
          <p:nvPr/>
        </p:nvSpPr>
        <p:spPr>
          <a:xfrm>
            <a:off x="6309360" y="3776472"/>
            <a:ext cx="2240280" cy="13716"/>
          </a:xfrm>
          <a:prstGeom prst="rect">
            <a:avLst/>
          </a:prstGeom>
          <a:solidFill>
            <a:srgbClr val="333333"/>
          </a:solidFill>
          <a:ln w="12700">
            <a:solidFill>
              <a:srgbClr val="333333"/>
            </a:solidFill>
            <a:prstDash val="solid"/>
          </a:ln>
        </p:spPr>
      </p:sp>
      <p:sp>
        <p:nvSpPr>
          <p:cNvPr id="53" name="Text 51"/>
          <p:cNvSpPr/>
          <p:nvPr/>
        </p:nvSpPr>
        <p:spPr>
          <a:xfrm>
            <a:off x="6309360" y="3849624"/>
            <a:ext cx="822960" cy="246888"/>
          </a:xfrm>
          <a:prstGeom prst="rect">
            <a:avLst/>
          </a:prstGeom>
          <a:noFill/>
          <a:ln/>
        </p:spPr>
        <p:txBody>
          <a:bodyPr wrap="square" lIns="0" tIns="0" rIns="0" bIns="0" rtlCol="0" anchor="ctr"/>
          <a:lstStyle/>
          <a:p>
            <a:pPr indent="0" marL="0">
              <a:buNone/>
            </a:pPr>
            <a:r>
              <a:rPr lang="en-US" sz="950" b="1" dirty="0">
                <a:solidFill>
                  <a:srgbClr val="FFD700"/>
                </a:solidFill>
                <a:latin typeface="Arial Black" pitchFamily="34" charset="0"/>
                <a:ea typeface="Arial Black" pitchFamily="34" charset="-122"/>
                <a:cs typeface="Arial Black" pitchFamily="34" charset="-120"/>
              </a:rPr>
              <a:t>£4.8M</a:t>
            </a:r>
            <a:endParaRPr lang="en-US" sz="950" dirty="0"/>
          </a:p>
        </p:txBody>
      </p:sp>
      <p:sp>
        <p:nvSpPr>
          <p:cNvPr id="54" name="Text 52"/>
          <p:cNvSpPr/>
          <p:nvPr/>
        </p:nvSpPr>
        <p:spPr>
          <a:xfrm>
            <a:off x="7150608" y="3849624"/>
            <a:ext cx="1572768" cy="24688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estimated in private fines across the UK every day</a:t>
            </a:r>
            <a:endParaRPr lang="en-US" sz="850" dirty="0"/>
          </a:p>
        </p:txBody>
      </p:sp>
      <p:sp>
        <p:nvSpPr>
          <p:cNvPr id="55" name="Text 53"/>
          <p:cNvSpPr/>
          <p:nvPr/>
        </p:nvSpPr>
        <p:spPr>
          <a:xfrm>
            <a:off x="6309360" y="4123944"/>
            <a:ext cx="822960" cy="246888"/>
          </a:xfrm>
          <a:prstGeom prst="rect">
            <a:avLst/>
          </a:prstGeom>
          <a:noFill/>
          <a:ln/>
        </p:spPr>
        <p:txBody>
          <a:bodyPr wrap="square" lIns="0" tIns="0" rIns="0" bIns="0" rtlCol="0" anchor="ctr"/>
          <a:lstStyle/>
          <a:p>
            <a:pPr indent="0" marL="0">
              <a:buNone/>
            </a:pPr>
            <a:r>
              <a:rPr lang="en-US" sz="950" b="1" dirty="0">
                <a:solidFill>
                  <a:srgbClr val="FFD700"/>
                </a:solidFill>
                <a:latin typeface="Arial Black" pitchFamily="34" charset="0"/>
                <a:ea typeface="Arial Black" pitchFamily="34" charset="-122"/>
                <a:cs typeface="Arial Black" pitchFamily="34" charset="-120"/>
              </a:rPr>
              <a:t>£160</a:t>
            </a:r>
            <a:endParaRPr lang="en-US" sz="950" dirty="0"/>
          </a:p>
        </p:txBody>
      </p:sp>
      <p:sp>
        <p:nvSpPr>
          <p:cNvPr id="56" name="Text 54"/>
          <p:cNvSpPr/>
          <p:nvPr/>
        </p:nvSpPr>
        <p:spPr>
          <a:xfrm>
            <a:off x="7150608" y="4123944"/>
            <a:ext cx="1572768" cy="24688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single PCN can wipe out an entire day's earnings</a:t>
            </a:r>
            <a:endParaRPr lang="en-US" sz="850" dirty="0"/>
          </a:p>
        </p:txBody>
      </p:sp>
      <p:sp>
        <p:nvSpPr>
          <p:cNvPr id="57" name="Text 55"/>
          <p:cNvSpPr/>
          <p:nvPr/>
        </p:nvSpPr>
        <p:spPr>
          <a:xfrm>
            <a:off x="6309360" y="4398264"/>
            <a:ext cx="822960" cy="246888"/>
          </a:xfrm>
          <a:prstGeom prst="rect">
            <a:avLst/>
          </a:prstGeom>
          <a:noFill/>
          <a:ln/>
        </p:spPr>
        <p:txBody>
          <a:bodyPr wrap="square" lIns="0" tIns="0" rIns="0" bIns="0" rtlCol="0" anchor="ctr"/>
          <a:lstStyle/>
          <a:p>
            <a:pPr indent="0" marL="0">
              <a:buNone/>
            </a:pPr>
            <a:r>
              <a:rPr lang="en-US" sz="950" b="1" dirty="0">
                <a:solidFill>
                  <a:srgbClr val="FFD700"/>
                </a:solidFill>
                <a:latin typeface="Arial Black" pitchFamily="34" charset="0"/>
                <a:ea typeface="Arial Black" pitchFamily="34" charset="-122"/>
                <a:cs typeface="Arial Black" pitchFamily="34" charset="-120"/>
              </a:rPr>
              <a:t>100 mins</a:t>
            </a:r>
            <a:endParaRPr lang="en-US" sz="950" dirty="0"/>
          </a:p>
        </p:txBody>
      </p:sp>
      <p:sp>
        <p:nvSpPr>
          <p:cNvPr id="58" name="Text 56"/>
          <p:cNvSpPr/>
          <p:nvPr/>
        </p:nvSpPr>
        <p:spPr>
          <a:xfrm>
            <a:off x="7150608" y="4398264"/>
            <a:ext cx="1572768" cy="24688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lost per driver per day searching for parking</a:t>
            </a:r>
            <a:endParaRPr lang="en-US" sz="850" dirty="0"/>
          </a:p>
        </p:txBody>
      </p:sp>
      <p:sp>
        <p:nvSpPr>
          <p:cNvPr id="59" name="Text 57"/>
          <p:cNvSpPr/>
          <p:nvPr/>
        </p:nvSpPr>
        <p:spPr>
          <a:xfrm>
            <a:off x="6309360" y="4672584"/>
            <a:ext cx="822960" cy="246888"/>
          </a:xfrm>
          <a:prstGeom prst="rect">
            <a:avLst/>
          </a:prstGeom>
          <a:noFill/>
          <a:ln/>
        </p:spPr>
        <p:txBody>
          <a:bodyPr wrap="square" lIns="0" tIns="0" rIns="0" bIns="0" rtlCol="0" anchor="ctr"/>
          <a:lstStyle/>
          <a:p>
            <a:pPr indent="0" marL="0">
              <a:buNone/>
            </a:pPr>
            <a:r>
              <a:rPr lang="en-US" sz="950" b="1" dirty="0">
                <a:solidFill>
                  <a:srgbClr val="FFD700"/>
                </a:solidFill>
                <a:latin typeface="Arial Black" pitchFamily="34" charset="0"/>
                <a:ea typeface="Arial Black" pitchFamily="34" charset="-122"/>
                <a:cs typeface="Arial Black" pitchFamily="34" charset="-120"/>
              </a:rPr>
              <a:t>28,000</a:t>
            </a:r>
            <a:endParaRPr lang="en-US" sz="950" dirty="0"/>
          </a:p>
        </p:txBody>
      </p:sp>
      <p:sp>
        <p:nvSpPr>
          <p:cNvPr id="60" name="Text 58"/>
          <p:cNvSpPr/>
          <p:nvPr/>
        </p:nvSpPr>
        <p:spPr>
          <a:xfrm>
            <a:off x="7150608" y="4672584"/>
            <a:ext cx="1572768" cy="24688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self-employed Evri couriers exposed — plus Amazon, DPD &amp; more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D700"/>
          </a:solidFill>
          <a:ln w="12700">
            <a:solidFill>
              <a:srgbClr val="FFD700"/>
            </a:solidFill>
            <a:prstDash val="solid"/>
          </a:ln>
        </p:spPr>
      </p:sp>
      <p:sp>
        <p:nvSpPr>
          <p:cNvPr id="3" name="Shape 1"/>
          <p:cNvSpPr/>
          <p:nvPr/>
        </p:nvSpPr>
        <p:spPr>
          <a:xfrm>
            <a:off x="0" y="5079492"/>
            <a:ext cx="9144000" cy="64008"/>
          </a:xfrm>
          <a:prstGeom prst="rect">
            <a:avLst/>
          </a:prstGeom>
          <a:solidFill>
            <a:srgbClr val="FFD700"/>
          </a:solidFill>
          <a:ln w="12700">
            <a:solidFill>
              <a:srgbClr val="FFD700"/>
            </a:solidFill>
            <a:prstDash val="solid"/>
          </a:ln>
        </p:spPr>
      </p:sp>
      <p:sp>
        <p:nvSpPr>
          <p:cNvPr id="4" name="Shape 2"/>
          <p:cNvSpPr/>
          <p:nvPr/>
        </p:nvSpPr>
        <p:spPr>
          <a:xfrm>
            <a:off x="960120" y="109728"/>
            <a:ext cx="2331720" cy="4919472"/>
          </a:xfrm>
          <a:prstGeom prst="roundRect">
            <a:avLst>
              <a:gd name="adj" fmla="val 7059"/>
            </a:avLst>
          </a:prstGeom>
          <a:solidFill>
            <a:srgbClr val="1C1C1E"/>
          </a:solidFill>
          <a:ln w="12700">
            <a:solidFill>
              <a:srgbClr val="3A3A3C"/>
            </a:solidFill>
            <a:prstDash val="solid"/>
          </a:ln>
        </p:spPr>
      </p:sp>
      <p:sp>
        <p:nvSpPr>
          <p:cNvPr id="5" name="Shape 3"/>
          <p:cNvSpPr/>
          <p:nvPr/>
        </p:nvSpPr>
        <p:spPr>
          <a:xfrm>
            <a:off x="1014984" y="228600"/>
            <a:ext cx="2221992" cy="4681728"/>
          </a:xfrm>
          <a:prstGeom prst="rect">
            <a:avLst/>
          </a:prstGeom>
          <a:solidFill>
            <a:srgbClr val="0D0D0D"/>
          </a:solidFill>
          <a:ln w="12700">
            <a:solidFill>
              <a:srgbClr val="0D0D0D"/>
            </a:solidFill>
            <a:prstDash val="solid"/>
          </a:ln>
        </p:spPr>
      </p:sp>
      <p:sp>
        <p:nvSpPr>
          <p:cNvPr id="6" name="Shape 4"/>
          <p:cNvSpPr/>
          <p:nvPr/>
        </p:nvSpPr>
        <p:spPr>
          <a:xfrm>
            <a:off x="1924812" y="283464"/>
            <a:ext cx="402336" cy="109728"/>
          </a:xfrm>
          <a:prstGeom prst="roundRect">
            <a:avLst>
              <a:gd name="adj" fmla="val 50000"/>
            </a:avLst>
          </a:prstGeom>
          <a:solidFill>
            <a:srgbClr val="000000"/>
          </a:solidFill>
          <a:ln w="12700">
            <a:solidFill>
              <a:srgbClr val="000000"/>
            </a:solidFill>
            <a:prstDash val="solid"/>
          </a:ln>
        </p:spPr>
      </p:sp>
      <p:sp>
        <p:nvSpPr>
          <p:cNvPr id="7" name="Text 5"/>
          <p:cNvSpPr/>
          <p:nvPr/>
        </p:nvSpPr>
        <p:spPr>
          <a:xfrm>
            <a:off x="1106424" y="256032"/>
            <a:ext cx="457200" cy="128016"/>
          </a:xfrm>
          <a:prstGeom prst="rect">
            <a:avLst/>
          </a:prstGeom>
          <a:noFill/>
          <a:ln/>
        </p:spPr>
        <p:txBody>
          <a:bodyPr wrap="square" lIns="0" tIns="0" rIns="0" bIns="0" rtlCol="0" anchor="ctr"/>
          <a:lstStyle/>
          <a:p>
            <a:pPr indent="0" marL="0">
              <a:buNone/>
            </a:pPr>
            <a:r>
              <a:rPr lang="en-US" sz="600" b="1" dirty="0">
                <a:solidFill>
                  <a:srgbClr val="FFFFFF"/>
                </a:solidFill>
                <a:latin typeface="Arial Black" pitchFamily="34" charset="0"/>
                <a:ea typeface="Arial Black" pitchFamily="34" charset="-122"/>
                <a:cs typeface="Arial Black" pitchFamily="34" charset="-120"/>
              </a:rPr>
              <a:t>09:16</a:t>
            </a:r>
            <a:endParaRPr lang="en-US" sz="600" dirty="0"/>
          </a:p>
        </p:txBody>
      </p:sp>
      <p:sp>
        <p:nvSpPr>
          <p:cNvPr id="8" name="Text 6"/>
          <p:cNvSpPr/>
          <p:nvPr/>
        </p:nvSpPr>
        <p:spPr>
          <a:xfrm>
            <a:off x="2642616" y="265176"/>
            <a:ext cx="548640" cy="109728"/>
          </a:xfrm>
          <a:prstGeom prst="rect">
            <a:avLst/>
          </a:prstGeom>
          <a:noFill/>
          <a:ln/>
        </p:spPr>
        <p:txBody>
          <a:bodyPr wrap="square" lIns="0" tIns="0" rIns="0" bIns="0" rtlCol="0" anchor="ctr"/>
          <a:lstStyle/>
          <a:p>
            <a:pPr indent="0" marL="0">
              <a:buNone/>
            </a:pPr>
            <a:r>
              <a:rPr lang="en-US" sz="500" dirty="0">
                <a:solidFill>
                  <a:srgbClr val="FFFFFF"/>
                </a:solidFill>
                <a:latin typeface="Calibri" pitchFamily="34" charset="0"/>
                <a:ea typeface="Calibri" pitchFamily="34" charset="-122"/>
                <a:cs typeface="Calibri" pitchFamily="34" charset="-120"/>
              </a:rPr>
              <a:t>● ▪ ▪  ◈  ▮</a:t>
            </a:r>
            <a:endParaRPr lang="en-US" sz="500" dirty="0"/>
          </a:p>
        </p:txBody>
      </p:sp>
      <p:sp>
        <p:nvSpPr>
          <p:cNvPr id="9" name="Shape 7"/>
          <p:cNvSpPr/>
          <p:nvPr/>
        </p:nvSpPr>
        <p:spPr>
          <a:xfrm>
            <a:off x="1014984" y="448056"/>
            <a:ext cx="2221992" cy="246888"/>
          </a:xfrm>
          <a:prstGeom prst="rect">
            <a:avLst/>
          </a:prstGeom>
          <a:solidFill>
            <a:srgbClr val="FFD700"/>
          </a:solidFill>
          <a:ln w="12700">
            <a:solidFill>
              <a:srgbClr val="FFD700"/>
            </a:solidFill>
            <a:prstDash val="solid"/>
          </a:ln>
        </p:spPr>
      </p:sp>
      <p:sp>
        <p:nvSpPr>
          <p:cNvPr id="10" name="Shape 8"/>
          <p:cNvSpPr/>
          <p:nvPr/>
        </p:nvSpPr>
        <p:spPr>
          <a:xfrm>
            <a:off x="1014984" y="768096"/>
            <a:ext cx="2221992" cy="246888"/>
          </a:xfrm>
          <a:prstGeom prst="rect">
            <a:avLst/>
          </a:prstGeom>
          <a:solidFill>
            <a:srgbClr val="FFD700"/>
          </a:solidFill>
          <a:ln w="12700">
            <a:solidFill>
              <a:srgbClr val="FFD700"/>
            </a:solidFill>
            <a:prstDash val="solid"/>
          </a:ln>
        </p:spPr>
      </p:sp>
      <p:sp>
        <p:nvSpPr>
          <p:cNvPr id="11" name="Text 9"/>
          <p:cNvSpPr/>
          <p:nvPr/>
        </p:nvSpPr>
        <p:spPr>
          <a:xfrm>
            <a:off x="1014984" y="1106424"/>
            <a:ext cx="2221992" cy="493776"/>
          </a:xfrm>
          <a:prstGeom prst="rect">
            <a:avLst/>
          </a:prstGeom>
          <a:noFill/>
          <a:ln/>
        </p:spPr>
        <p:txBody>
          <a:bodyPr wrap="square" lIns="0" tIns="0" rIns="0" bIns="0" rtlCol="0" anchor="ctr"/>
          <a:lstStyle/>
          <a:p>
            <a:pPr algn="ctr" indent="0" marL="0">
              <a:buNone/>
            </a:pPr>
            <a:r>
              <a:rPr lang="en-US" sz="2800" b="1" dirty="0">
                <a:solidFill>
                  <a:srgbClr val="FFFFFF"/>
                </a:solidFill>
                <a:latin typeface="Arial Black" pitchFamily="34" charset="0"/>
                <a:ea typeface="Arial Black" pitchFamily="34" charset="-122"/>
                <a:cs typeface="Arial Black" pitchFamily="34" charset="-120"/>
              </a:rPr>
              <a:t>DOUBLE</a:t>
            </a:r>
            <a:endParaRPr lang="en-US" sz="2800" dirty="0"/>
          </a:p>
        </p:txBody>
      </p:sp>
      <p:sp>
        <p:nvSpPr>
          <p:cNvPr id="12" name="Text 10"/>
          <p:cNvSpPr/>
          <p:nvPr/>
        </p:nvSpPr>
        <p:spPr>
          <a:xfrm>
            <a:off x="1014984" y="1545336"/>
            <a:ext cx="2221992" cy="493776"/>
          </a:xfrm>
          <a:prstGeom prst="rect">
            <a:avLst/>
          </a:prstGeom>
          <a:noFill/>
          <a:ln/>
        </p:spPr>
        <p:txBody>
          <a:bodyPr wrap="square" lIns="0" tIns="0" rIns="0" bIns="0" rtlCol="0" anchor="ctr"/>
          <a:lstStyle/>
          <a:p>
            <a:pPr algn="ctr" indent="0" marL="0">
              <a:buNone/>
            </a:pPr>
            <a:r>
              <a:rPr lang="en-US" sz="2800" b="1" dirty="0">
                <a:solidFill>
                  <a:srgbClr val="FFFFFF"/>
                </a:solidFill>
                <a:latin typeface="Arial Black" pitchFamily="34" charset="0"/>
                <a:ea typeface="Arial Black" pitchFamily="34" charset="-122"/>
                <a:cs typeface="Arial Black" pitchFamily="34" charset="-120"/>
              </a:rPr>
              <a:t>YELLOW</a:t>
            </a:r>
            <a:endParaRPr lang="en-US" sz="2800" dirty="0"/>
          </a:p>
        </p:txBody>
      </p:sp>
      <p:sp>
        <p:nvSpPr>
          <p:cNvPr id="13" name="Shape 11"/>
          <p:cNvSpPr/>
          <p:nvPr/>
        </p:nvSpPr>
        <p:spPr>
          <a:xfrm>
            <a:off x="1014984" y="2112264"/>
            <a:ext cx="2221992" cy="246888"/>
          </a:xfrm>
          <a:prstGeom prst="rect">
            <a:avLst/>
          </a:prstGeom>
          <a:solidFill>
            <a:srgbClr val="FFD700"/>
          </a:solidFill>
          <a:ln w="12700">
            <a:solidFill>
              <a:srgbClr val="FFD700"/>
            </a:solidFill>
            <a:prstDash val="solid"/>
          </a:ln>
        </p:spPr>
      </p:sp>
      <p:sp>
        <p:nvSpPr>
          <p:cNvPr id="14" name="Shape 12"/>
          <p:cNvSpPr/>
          <p:nvPr/>
        </p:nvSpPr>
        <p:spPr>
          <a:xfrm>
            <a:off x="1014984" y="2432304"/>
            <a:ext cx="2221992" cy="246888"/>
          </a:xfrm>
          <a:prstGeom prst="rect">
            <a:avLst/>
          </a:prstGeom>
          <a:solidFill>
            <a:srgbClr val="FFD700"/>
          </a:solidFill>
          <a:ln w="12700">
            <a:solidFill>
              <a:srgbClr val="FFD700"/>
            </a:solidFill>
            <a:prstDash val="solid"/>
          </a:ln>
        </p:spPr>
      </p:sp>
      <p:sp>
        <p:nvSpPr>
          <p:cNvPr id="15" name="Text 13"/>
          <p:cNvSpPr/>
          <p:nvPr/>
        </p:nvSpPr>
        <p:spPr>
          <a:xfrm>
            <a:off x="1014984" y="2807208"/>
            <a:ext cx="2221992" cy="182880"/>
          </a:xfrm>
          <a:prstGeom prst="rect">
            <a:avLst/>
          </a:prstGeom>
          <a:noFill/>
          <a:ln/>
        </p:spPr>
        <p:txBody>
          <a:bodyPr wrap="square" lIns="0" tIns="0" rIns="0" bIns="0" rtlCol="0" anchor="ctr"/>
          <a:lstStyle/>
          <a:p>
            <a:pPr algn="ctr" indent="0" marL="0">
              <a:buNone/>
            </a:pPr>
            <a:r>
              <a:rPr lang="en-US" sz="550" spc="200" kern="0" dirty="0">
                <a:solidFill>
                  <a:srgbClr val="888888"/>
                </a:solidFill>
                <a:latin typeface="Calibri" pitchFamily="34" charset="0"/>
                <a:ea typeface="Calibri" pitchFamily="34" charset="-122"/>
                <a:cs typeface="Calibri" pitchFamily="34" charset="-120"/>
              </a:rPr>
              <a:t>THE COMMUNITY WARDEN ALERT</a:t>
            </a:r>
            <a:endParaRPr lang="en-US" sz="550" dirty="0"/>
          </a:p>
        </p:txBody>
      </p:sp>
      <p:sp>
        <p:nvSpPr>
          <p:cNvPr id="16" name="Shape 14"/>
          <p:cNvSpPr/>
          <p:nvPr/>
        </p:nvSpPr>
        <p:spPr>
          <a:xfrm>
            <a:off x="1179576" y="3072384"/>
            <a:ext cx="1892808" cy="384048"/>
          </a:xfrm>
          <a:prstGeom prst="roundRect">
            <a:avLst>
              <a:gd name="adj" fmla="val 14286"/>
            </a:avLst>
          </a:prstGeom>
          <a:solidFill>
            <a:srgbClr val="FFD700"/>
          </a:solidFill>
          <a:ln w="12700">
            <a:solidFill>
              <a:srgbClr val="FFD700"/>
            </a:solidFill>
            <a:prstDash val="solid"/>
          </a:ln>
        </p:spPr>
      </p:sp>
      <p:sp>
        <p:nvSpPr>
          <p:cNvPr id="17" name="Text 15"/>
          <p:cNvSpPr/>
          <p:nvPr/>
        </p:nvSpPr>
        <p:spPr>
          <a:xfrm>
            <a:off x="1179576" y="3081528"/>
            <a:ext cx="1892808" cy="365760"/>
          </a:xfrm>
          <a:prstGeom prst="rect">
            <a:avLst/>
          </a:prstGeom>
          <a:noFill/>
          <a:ln/>
        </p:spPr>
        <p:txBody>
          <a:bodyPr wrap="square" lIns="0" tIns="0" rIns="0" bIns="0" rtlCol="0" anchor="ctr"/>
          <a:lstStyle/>
          <a:p>
            <a:pPr algn="ctr" indent="0" marL="0">
              <a:buNone/>
            </a:pPr>
            <a:r>
              <a:rPr lang="en-US" sz="1000" b="1" dirty="0">
                <a:solidFill>
                  <a:srgbClr val="0D0D0D"/>
                </a:solidFill>
                <a:latin typeface="Arial Black" pitchFamily="34" charset="0"/>
                <a:ea typeface="Arial Black" pitchFamily="34" charset="-122"/>
                <a:cs typeface="Arial Black" pitchFamily="34" charset="-120"/>
              </a:rPr>
              <a:t>SIGN UP</a:t>
            </a:r>
            <a:endParaRPr lang="en-US" sz="1000" dirty="0"/>
          </a:p>
        </p:txBody>
      </p:sp>
      <p:sp>
        <p:nvSpPr>
          <p:cNvPr id="18" name="Shape 16"/>
          <p:cNvSpPr/>
          <p:nvPr/>
        </p:nvSpPr>
        <p:spPr>
          <a:xfrm>
            <a:off x="1179576" y="3529584"/>
            <a:ext cx="1892808" cy="384048"/>
          </a:xfrm>
          <a:prstGeom prst="roundRect">
            <a:avLst>
              <a:gd name="adj" fmla="val 14286"/>
            </a:avLst>
          </a:prstGeom>
          <a:solidFill>
            <a:srgbClr val="0D0D0D"/>
          </a:solidFill>
          <a:ln w="12700">
            <a:solidFill>
              <a:srgbClr val="FFFFFF"/>
            </a:solidFill>
            <a:prstDash val="solid"/>
          </a:ln>
        </p:spPr>
      </p:sp>
      <p:sp>
        <p:nvSpPr>
          <p:cNvPr id="19" name="Text 17"/>
          <p:cNvSpPr/>
          <p:nvPr/>
        </p:nvSpPr>
        <p:spPr>
          <a:xfrm>
            <a:off x="1179576" y="3538728"/>
            <a:ext cx="1892808"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LOG IN</a:t>
            </a:r>
            <a:endParaRPr lang="en-US" sz="1000" dirty="0"/>
          </a:p>
        </p:txBody>
      </p:sp>
      <p:sp>
        <p:nvSpPr>
          <p:cNvPr id="20" name="Text 18"/>
          <p:cNvSpPr/>
          <p:nvPr/>
        </p:nvSpPr>
        <p:spPr>
          <a:xfrm>
            <a:off x="1014984" y="4014216"/>
            <a:ext cx="2221992" cy="164592"/>
          </a:xfrm>
          <a:prstGeom prst="rect">
            <a:avLst/>
          </a:prstGeom>
          <a:noFill/>
          <a:ln/>
        </p:spPr>
        <p:txBody>
          <a:bodyPr wrap="square" lIns="0" tIns="0" rIns="0" bIns="0" rtlCol="0" anchor="ctr"/>
          <a:lstStyle/>
          <a:p>
            <a:pPr algn="ctr" indent="0" marL="0">
              <a:buNone/>
            </a:pPr>
            <a:r>
              <a:rPr lang="en-US" sz="550" spc="200" kern="0" dirty="0">
                <a:solidFill>
                  <a:srgbClr val="888888"/>
                </a:solidFill>
                <a:latin typeface="Calibri" pitchFamily="34" charset="0"/>
                <a:ea typeface="Calibri" pitchFamily="34" charset="-122"/>
                <a:cs typeface="Calibri" pitchFamily="34" charset="-120"/>
              </a:rPr>
              <a:t>CONTINUE AS GUEST</a:t>
            </a:r>
            <a:endParaRPr lang="en-US" sz="550" dirty="0"/>
          </a:p>
        </p:txBody>
      </p:sp>
      <p:sp>
        <p:nvSpPr>
          <p:cNvPr id="21" name="Text 19"/>
          <p:cNvSpPr/>
          <p:nvPr/>
        </p:nvSpPr>
        <p:spPr>
          <a:xfrm>
            <a:off x="3931920" y="1188720"/>
            <a:ext cx="4754880" cy="822960"/>
          </a:xfrm>
          <a:prstGeom prst="rect">
            <a:avLst/>
          </a:prstGeom>
          <a:noFill/>
          <a:ln/>
        </p:spPr>
        <p:txBody>
          <a:bodyPr wrap="square" lIns="0" tIns="0" rIns="0" bIns="0"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The community-powered</a:t>
            </a:r>
            <a:endParaRPr lang="en-US" sz="2800" dirty="0"/>
          </a:p>
        </p:txBody>
      </p:sp>
      <p:sp>
        <p:nvSpPr>
          <p:cNvPr id="22" name="Text 20"/>
          <p:cNvSpPr/>
          <p:nvPr/>
        </p:nvSpPr>
        <p:spPr>
          <a:xfrm>
            <a:off x="3931920" y="1920240"/>
            <a:ext cx="4754880" cy="548640"/>
          </a:xfrm>
          <a:prstGeom prst="rect">
            <a:avLst/>
          </a:prstGeom>
          <a:noFill/>
          <a:ln/>
        </p:spPr>
        <p:txBody>
          <a:bodyPr wrap="square" lIns="0" tIns="0" rIns="0" bIns="0" rtlCol="0" anchor="ctr"/>
          <a:lstStyle/>
          <a:p>
            <a:pPr indent="0" marL="0">
              <a:buNone/>
            </a:pPr>
            <a:r>
              <a:rPr lang="en-US" sz="3600" b="1" dirty="0">
                <a:solidFill>
                  <a:srgbClr val="FFD700"/>
                </a:solidFill>
                <a:latin typeface="Arial Black" pitchFamily="34" charset="0"/>
                <a:ea typeface="Arial Black" pitchFamily="34" charset="-122"/>
                <a:cs typeface="Arial Black" pitchFamily="34" charset="-120"/>
              </a:rPr>
              <a:t>parking warden</a:t>
            </a:r>
            <a:endParaRPr lang="en-US" sz="3600" dirty="0"/>
          </a:p>
        </p:txBody>
      </p:sp>
      <p:sp>
        <p:nvSpPr>
          <p:cNvPr id="23" name="Text 21"/>
          <p:cNvSpPr/>
          <p:nvPr/>
        </p:nvSpPr>
        <p:spPr>
          <a:xfrm>
            <a:off x="3931920" y="2423160"/>
            <a:ext cx="4754880" cy="548640"/>
          </a:xfrm>
          <a:prstGeom prst="rect">
            <a:avLst/>
          </a:prstGeom>
          <a:noFill/>
          <a:ln/>
        </p:spPr>
        <p:txBody>
          <a:bodyPr wrap="square" lIns="0" tIns="0" rIns="0" bIns="0" rtlCol="0" anchor="ctr"/>
          <a:lstStyle/>
          <a:p>
            <a:pPr indent="0" marL="0">
              <a:buNone/>
            </a:pPr>
            <a:r>
              <a:rPr lang="en-US" sz="3600" b="1" dirty="0">
                <a:solidFill>
                  <a:srgbClr val="FFD700"/>
                </a:solidFill>
                <a:latin typeface="Arial Black" pitchFamily="34" charset="0"/>
                <a:ea typeface="Arial Black" pitchFamily="34" charset="-122"/>
                <a:cs typeface="Arial Black" pitchFamily="34" charset="-120"/>
              </a:rPr>
              <a:t>alert network.</a:t>
            </a:r>
            <a:endParaRPr lang="en-US" sz="3600" dirty="0"/>
          </a:p>
        </p:txBody>
      </p:sp>
      <p:sp>
        <p:nvSpPr>
          <p:cNvPr id="24" name="Shape 22"/>
          <p:cNvSpPr/>
          <p:nvPr/>
        </p:nvSpPr>
        <p:spPr>
          <a:xfrm>
            <a:off x="3931920" y="3090672"/>
            <a:ext cx="3090672" cy="22860"/>
          </a:xfrm>
          <a:prstGeom prst="rect">
            <a:avLst/>
          </a:prstGeom>
          <a:solidFill>
            <a:srgbClr val="FFD700"/>
          </a:solidFill>
          <a:ln w="12700">
            <a:solidFill>
              <a:srgbClr val="FFD700"/>
            </a:solidFill>
            <a:prstDash val="solid"/>
          </a:ln>
        </p:spPr>
      </p:sp>
      <p:sp>
        <p:nvSpPr>
          <p:cNvPr id="25" name="Text 23"/>
          <p:cNvSpPr/>
          <p:nvPr/>
        </p:nvSpPr>
        <p:spPr>
          <a:xfrm>
            <a:off x="3931920" y="3218688"/>
            <a:ext cx="4754880" cy="320040"/>
          </a:xfrm>
          <a:prstGeom prst="rect">
            <a:avLst/>
          </a:prstGeom>
          <a:noFill/>
          <a:ln/>
        </p:spPr>
        <p:txBody>
          <a:bodyPr wrap="square" lIns="0" tIns="0" rIns="0" bIns="0" rtlCol="0" anchor="ctr"/>
          <a:lstStyle/>
          <a:p>
            <a:pPr indent="0" marL="0">
              <a:buNone/>
            </a:pPr>
            <a:r>
              <a:rPr lang="en-US" sz="1300" i="1" dirty="0">
                <a:solidFill>
                  <a:srgbClr val="888888"/>
                </a:solidFill>
                <a:latin typeface="Calibri" pitchFamily="34" charset="0"/>
                <a:ea typeface="Calibri" pitchFamily="34" charset="-122"/>
                <a:cs typeface="Calibri" pitchFamily="34" charset="-120"/>
              </a:rPr>
              <a:t>Spot it. Share it. Save someone's day.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D700"/>
          </a:solidFill>
          <a:ln w="12700">
            <a:solidFill>
              <a:srgbClr val="FFD700"/>
            </a:solidFill>
            <a:prstDash val="solid"/>
          </a:ln>
        </p:spPr>
      </p:sp>
      <p:sp>
        <p:nvSpPr>
          <p:cNvPr id="3" name="Shape 1"/>
          <p:cNvSpPr/>
          <p:nvPr/>
        </p:nvSpPr>
        <p:spPr>
          <a:xfrm>
            <a:off x="0" y="5079492"/>
            <a:ext cx="9144000" cy="64008"/>
          </a:xfrm>
          <a:prstGeom prst="rect">
            <a:avLst/>
          </a:prstGeom>
          <a:solidFill>
            <a:srgbClr val="FFD700"/>
          </a:solidFill>
          <a:ln w="12700">
            <a:solidFill>
              <a:srgbClr val="FFD700"/>
            </a:solidFill>
            <a:prstDash val="solid"/>
          </a:ln>
        </p:spPr>
      </p:sp>
      <p:sp>
        <p:nvSpPr>
          <p:cNvPr id="4" name="Text 2"/>
          <p:cNvSpPr/>
          <p:nvPr/>
        </p:nvSpPr>
        <p:spPr>
          <a:xfrm>
            <a:off x="4572000" y="201168"/>
            <a:ext cx="4206240" cy="256032"/>
          </a:xfrm>
          <a:prstGeom prst="rect">
            <a:avLst/>
          </a:prstGeom>
          <a:noFill/>
          <a:ln/>
        </p:spPr>
        <p:txBody>
          <a:bodyPr wrap="square" lIns="0" tIns="0" rIns="0" bIns="0" rtlCol="0" anchor="ctr"/>
          <a:lstStyle/>
          <a:p>
            <a:pPr algn="r" indent="0" marL="0">
              <a:buNone/>
            </a:pPr>
            <a:r>
              <a:rPr lang="en-US" sz="900" b="1" spc="400" kern="0" dirty="0">
                <a:solidFill>
                  <a:srgbClr val="FFD700"/>
                </a:solidFill>
                <a:latin typeface="Calibri" pitchFamily="34" charset="0"/>
                <a:ea typeface="Calibri" pitchFamily="34" charset="-122"/>
                <a:cs typeface="Calibri" pitchFamily="34" charset="-120"/>
              </a:rPr>
              <a:t>THE SOLUTION</a:t>
            </a:r>
            <a:endParaRPr lang="en-US" sz="900" dirty="0"/>
          </a:p>
        </p:txBody>
      </p:sp>
      <p:sp>
        <p:nvSpPr>
          <p:cNvPr id="5" name="Text 3"/>
          <p:cNvSpPr/>
          <p:nvPr/>
        </p:nvSpPr>
        <p:spPr>
          <a:xfrm>
            <a:off x="548640" y="320040"/>
            <a:ext cx="7315200" cy="82296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When you're out of options,
</a:t>
            </a:r>
            <a:pPr indent="0" marL="0">
              <a:buNone/>
            </a:pPr>
            <a:r>
              <a:rPr lang="en-US" sz="2600" b="1" dirty="0">
                <a:solidFill>
                  <a:srgbClr val="FFD700"/>
                </a:solidFill>
                <a:latin typeface="Arial Black" pitchFamily="34" charset="0"/>
                <a:ea typeface="Arial Black" pitchFamily="34" charset="-122"/>
                <a:cs typeface="Arial Black" pitchFamily="34" charset="-120"/>
              </a:rPr>
              <a:t>Double Yellow</a:t>
            </a:r>
            <a:pPr indent="0" marL="0">
              <a:buNone/>
            </a:pPr>
            <a:r>
              <a:rPr lang="en-US" sz="2600" b="1" dirty="0">
                <a:solidFill>
                  <a:srgbClr val="FFFFFF"/>
                </a:solidFill>
                <a:latin typeface="Arial Black" pitchFamily="34" charset="0"/>
                <a:ea typeface="Arial Black" pitchFamily="34" charset="-122"/>
                <a:cs typeface="Arial Black" pitchFamily="34" charset="-120"/>
              </a:rPr>
              <a:t> has your back.</a:t>
            </a:r>
            <a:endParaRPr lang="en-US" sz="2600" dirty="0"/>
          </a:p>
        </p:txBody>
      </p:sp>
      <p:sp>
        <p:nvSpPr>
          <p:cNvPr id="6" name="Text 4"/>
          <p:cNvSpPr/>
          <p:nvPr/>
        </p:nvSpPr>
        <p:spPr>
          <a:xfrm>
            <a:off x="548640" y="1143000"/>
            <a:ext cx="8046720" cy="548640"/>
          </a:xfrm>
          <a:prstGeom prst="rect">
            <a:avLst/>
          </a:prstGeom>
          <a:noFill/>
          <a:ln/>
        </p:spPr>
        <p:txBody>
          <a:bodyPr wrap="square" lIns="0" tIns="0" rIns="0" bIns="0" rtlCol="0" anchor="ctr"/>
          <a:lstStyle/>
          <a:p>
            <a:pPr indent="0" marL="0">
              <a:buNone/>
            </a:pPr>
            <a:r>
              <a:rPr lang="en-US" sz="1200" dirty="0">
                <a:solidFill>
                  <a:srgbClr val="888888"/>
                </a:solidFill>
                <a:latin typeface="Calibri" pitchFamily="34" charset="0"/>
                <a:ea typeface="Calibri" pitchFamily="34" charset="-122"/>
                <a:cs typeface="Calibri" pitchFamily="34" charset="-120"/>
              </a:rPr>
              <a:t>In-community NHS workers visiting patients, tradesmen dropping off materials, delivery drivers on a tight schedule, removal vans, school pick ups... sometimes quickly parking where you shouldn't is unavoidable.</a:t>
            </a:r>
            <a:endParaRPr lang="en-US" sz="1200" dirty="0"/>
          </a:p>
        </p:txBody>
      </p:sp>
      <p:sp>
        <p:nvSpPr>
          <p:cNvPr id="7" name="Text 5"/>
          <p:cNvSpPr/>
          <p:nvPr/>
        </p:nvSpPr>
        <p:spPr>
          <a:xfrm>
            <a:off x="548640" y="1737360"/>
            <a:ext cx="804672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We can't promise you'll never get a ticket — but with the Double Yellow community on your side, you'll have the best possible chance of avoiding one.</a:t>
            </a:r>
            <a:endParaRPr lang="en-US" sz="1200" dirty="0"/>
          </a:p>
        </p:txBody>
      </p:sp>
      <p:sp>
        <p:nvSpPr>
          <p:cNvPr id="8" name="Shape 6"/>
          <p:cNvSpPr/>
          <p:nvPr/>
        </p:nvSpPr>
        <p:spPr>
          <a:xfrm>
            <a:off x="457200" y="2148840"/>
            <a:ext cx="2657856" cy="123444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9" name="Text 7"/>
          <p:cNvSpPr/>
          <p:nvPr/>
        </p:nvSpPr>
        <p:spPr>
          <a:xfrm>
            <a:off x="585216" y="2267712"/>
            <a:ext cx="347472" cy="274320"/>
          </a:xfrm>
          <a:prstGeom prst="rect">
            <a:avLst/>
          </a:prstGeom>
          <a:noFill/>
          <a:ln/>
        </p:spPr>
        <p:txBody>
          <a:bodyPr wrap="square" lIns="0" tIns="0" rIns="0" bIns="0" rtlCol="0" anchor="ctr"/>
          <a:lstStyle/>
          <a:p>
            <a:pPr algn="l" indent="0" marL="0">
              <a:buNone/>
            </a:pPr>
            <a:r>
              <a:rPr lang="en-US" sz="1100" b="1" dirty="0">
                <a:solidFill>
                  <a:srgbClr val="FFD700"/>
                </a:solidFill>
                <a:latin typeface="Arial Black" pitchFamily="34" charset="0"/>
                <a:ea typeface="Arial Black" pitchFamily="34" charset="-122"/>
                <a:cs typeface="Arial Black" pitchFamily="34" charset="-120"/>
              </a:rPr>
              <a:t>01</a:t>
            </a:r>
            <a:endParaRPr lang="en-US" sz="1100" dirty="0"/>
          </a:p>
        </p:txBody>
      </p:sp>
      <p:sp>
        <p:nvSpPr>
          <p:cNvPr id="10" name="Text 8"/>
          <p:cNvSpPr/>
          <p:nvPr/>
        </p:nvSpPr>
        <p:spPr>
          <a:xfrm>
            <a:off x="960120" y="2267712"/>
            <a:ext cx="2036064" cy="256032"/>
          </a:xfrm>
          <a:prstGeom prst="rect">
            <a:avLst/>
          </a:prstGeom>
          <a:noFill/>
          <a:ln/>
        </p:spPr>
        <p:txBody>
          <a:bodyPr wrap="square" lIns="0" tIns="0" rIns="0" bIns="0" rtlCol="0" anchor="ctr"/>
          <a:lstStyle/>
          <a:p>
            <a:pPr indent="0" marL="0">
              <a:buNone/>
            </a:pPr>
            <a:r>
              <a:rPr lang="en-US" sz="900" b="1" spc="200" kern="0" dirty="0">
                <a:solidFill>
                  <a:srgbClr val="FFD700"/>
                </a:solidFill>
                <a:latin typeface="Calibri" pitchFamily="34" charset="0"/>
                <a:ea typeface="Calibri" pitchFamily="34" charset="-122"/>
                <a:cs typeface="Calibri" pitchFamily="34" charset="-120"/>
              </a:rPr>
              <a:t>QUICK ACTIVATION</a:t>
            </a:r>
            <a:endParaRPr lang="en-US" sz="900" dirty="0"/>
          </a:p>
        </p:txBody>
      </p:sp>
      <p:sp>
        <p:nvSpPr>
          <p:cNvPr id="11" name="Text 9"/>
          <p:cNvSpPr/>
          <p:nvPr/>
        </p:nvSpPr>
        <p:spPr>
          <a:xfrm>
            <a:off x="585216" y="2587752"/>
            <a:ext cx="2401824" cy="731520"/>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Park up. Confirm your car's location. Activate. Then let the DY community keep watch for you.</a:t>
            </a:r>
            <a:endParaRPr lang="en-US" sz="900" dirty="0"/>
          </a:p>
        </p:txBody>
      </p:sp>
      <p:sp>
        <p:nvSpPr>
          <p:cNvPr id="12" name="Shape 10"/>
          <p:cNvSpPr/>
          <p:nvPr/>
        </p:nvSpPr>
        <p:spPr>
          <a:xfrm>
            <a:off x="3243072" y="2148840"/>
            <a:ext cx="2657856" cy="123444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13" name="Text 11"/>
          <p:cNvSpPr/>
          <p:nvPr/>
        </p:nvSpPr>
        <p:spPr>
          <a:xfrm>
            <a:off x="3371088" y="2267712"/>
            <a:ext cx="347472" cy="274320"/>
          </a:xfrm>
          <a:prstGeom prst="rect">
            <a:avLst/>
          </a:prstGeom>
          <a:noFill/>
          <a:ln/>
        </p:spPr>
        <p:txBody>
          <a:bodyPr wrap="square" lIns="0" tIns="0" rIns="0" bIns="0" rtlCol="0" anchor="ctr"/>
          <a:lstStyle/>
          <a:p>
            <a:pPr algn="l" indent="0" marL="0">
              <a:buNone/>
            </a:pPr>
            <a:r>
              <a:rPr lang="en-US" sz="1100" b="1" dirty="0">
                <a:solidFill>
                  <a:srgbClr val="FFD700"/>
                </a:solidFill>
                <a:latin typeface="Arial Black" pitchFamily="34" charset="0"/>
                <a:ea typeface="Arial Black" pitchFamily="34" charset="-122"/>
                <a:cs typeface="Arial Black" pitchFamily="34" charset="-120"/>
              </a:rPr>
              <a:t>02</a:t>
            </a:r>
            <a:endParaRPr lang="en-US" sz="1100" dirty="0"/>
          </a:p>
        </p:txBody>
      </p:sp>
      <p:sp>
        <p:nvSpPr>
          <p:cNvPr id="14" name="Text 12"/>
          <p:cNvSpPr/>
          <p:nvPr/>
        </p:nvSpPr>
        <p:spPr>
          <a:xfrm>
            <a:off x="3745992" y="2267712"/>
            <a:ext cx="2036064" cy="256032"/>
          </a:xfrm>
          <a:prstGeom prst="rect">
            <a:avLst/>
          </a:prstGeom>
          <a:noFill/>
          <a:ln/>
        </p:spPr>
        <p:txBody>
          <a:bodyPr wrap="square" lIns="0" tIns="0" rIns="0" bIns="0" rtlCol="0" anchor="ctr"/>
          <a:lstStyle/>
          <a:p>
            <a:pPr indent="0" marL="0">
              <a:buNone/>
            </a:pPr>
            <a:r>
              <a:rPr lang="en-US" sz="900" b="1" spc="200" kern="0" dirty="0">
                <a:solidFill>
                  <a:srgbClr val="FFD700"/>
                </a:solidFill>
                <a:latin typeface="Calibri" pitchFamily="34" charset="0"/>
                <a:ea typeface="Calibri" pitchFamily="34" charset="-122"/>
                <a:cs typeface="Calibri" pitchFamily="34" charset="-120"/>
              </a:rPr>
              <a:t>REAL-TIME ALERTS</a:t>
            </a:r>
            <a:endParaRPr lang="en-US" sz="900" dirty="0"/>
          </a:p>
        </p:txBody>
      </p:sp>
      <p:sp>
        <p:nvSpPr>
          <p:cNvPr id="15" name="Text 13"/>
          <p:cNvSpPr/>
          <p:nvPr/>
        </p:nvSpPr>
        <p:spPr>
          <a:xfrm>
            <a:off x="3371088" y="2587752"/>
            <a:ext cx="2401824" cy="731520"/>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Other users spot a warden, tap once, confirm location. The alert is GPS tagged and pushed to every activated user within their specified radius. No delays, no apps to open — just a notification and a warning siren.</a:t>
            </a:r>
            <a:endParaRPr lang="en-US" sz="900" dirty="0"/>
          </a:p>
        </p:txBody>
      </p:sp>
      <p:sp>
        <p:nvSpPr>
          <p:cNvPr id="16" name="Shape 14"/>
          <p:cNvSpPr/>
          <p:nvPr/>
        </p:nvSpPr>
        <p:spPr>
          <a:xfrm>
            <a:off x="6028944" y="2148840"/>
            <a:ext cx="2657856" cy="123444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17" name="Text 15"/>
          <p:cNvSpPr/>
          <p:nvPr/>
        </p:nvSpPr>
        <p:spPr>
          <a:xfrm>
            <a:off x="6156960" y="2267712"/>
            <a:ext cx="347472" cy="274320"/>
          </a:xfrm>
          <a:prstGeom prst="rect">
            <a:avLst/>
          </a:prstGeom>
          <a:noFill/>
          <a:ln/>
        </p:spPr>
        <p:txBody>
          <a:bodyPr wrap="square" lIns="0" tIns="0" rIns="0" bIns="0" rtlCol="0" anchor="ctr"/>
          <a:lstStyle/>
          <a:p>
            <a:pPr algn="l" indent="0" marL="0">
              <a:buNone/>
            </a:pPr>
            <a:r>
              <a:rPr lang="en-US" sz="1100" b="1" dirty="0">
                <a:solidFill>
                  <a:srgbClr val="FFD700"/>
                </a:solidFill>
                <a:latin typeface="Arial Black" pitchFamily="34" charset="0"/>
                <a:ea typeface="Arial Black" pitchFamily="34" charset="-122"/>
                <a:cs typeface="Arial Black" pitchFamily="34" charset="-120"/>
              </a:rPr>
              <a:t>03</a:t>
            </a:r>
            <a:endParaRPr lang="en-US" sz="1100" dirty="0"/>
          </a:p>
        </p:txBody>
      </p:sp>
      <p:sp>
        <p:nvSpPr>
          <p:cNvPr id="18" name="Text 16"/>
          <p:cNvSpPr/>
          <p:nvPr/>
        </p:nvSpPr>
        <p:spPr>
          <a:xfrm>
            <a:off x="6531864" y="2267712"/>
            <a:ext cx="2036064" cy="256032"/>
          </a:xfrm>
          <a:prstGeom prst="rect">
            <a:avLst/>
          </a:prstGeom>
          <a:noFill/>
          <a:ln/>
        </p:spPr>
        <p:txBody>
          <a:bodyPr wrap="square" lIns="0" tIns="0" rIns="0" bIns="0" rtlCol="0" anchor="ctr"/>
          <a:lstStyle/>
          <a:p>
            <a:pPr indent="0" marL="0">
              <a:buNone/>
            </a:pPr>
            <a:r>
              <a:rPr lang="en-US" sz="900" b="1" spc="200" kern="0" dirty="0">
                <a:solidFill>
                  <a:srgbClr val="FFD700"/>
                </a:solidFill>
                <a:latin typeface="Calibri" pitchFamily="34" charset="0"/>
                <a:ea typeface="Calibri" pitchFamily="34" charset="-122"/>
                <a:cs typeface="Calibri" pitchFamily="34" charset="-120"/>
              </a:rPr>
              <a:t>GAMIFICATION ENGINE</a:t>
            </a:r>
            <a:endParaRPr lang="en-US" sz="900" dirty="0"/>
          </a:p>
        </p:txBody>
      </p:sp>
      <p:sp>
        <p:nvSpPr>
          <p:cNvPr id="19" name="Text 17"/>
          <p:cNvSpPr/>
          <p:nvPr/>
        </p:nvSpPr>
        <p:spPr>
          <a:xfrm>
            <a:off x="6156960" y="2587752"/>
            <a:ext cx="2401824" cy="731520"/>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Reporting earns points, badges, and ranks — Tipster all the way to Lookout Legend. Those saved can send thank you messages, gift points, or even buy their lookout a coffee. The community that saves together stays together.</a:t>
            </a:r>
            <a:endParaRPr lang="en-US" sz="900" dirty="0"/>
          </a:p>
        </p:txBody>
      </p:sp>
      <p:sp>
        <p:nvSpPr>
          <p:cNvPr id="20" name="Shape 18"/>
          <p:cNvSpPr/>
          <p:nvPr/>
        </p:nvSpPr>
        <p:spPr>
          <a:xfrm>
            <a:off x="457200" y="3493008"/>
            <a:ext cx="4050792" cy="123444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21" name="Text 19"/>
          <p:cNvSpPr/>
          <p:nvPr/>
        </p:nvSpPr>
        <p:spPr>
          <a:xfrm>
            <a:off x="585216" y="3611880"/>
            <a:ext cx="347472" cy="274320"/>
          </a:xfrm>
          <a:prstGeom prst="rect">
            <a:avLst/>
          </a:prstGeom>
          <a:noFill/>
          <a:ln/>
        </p:spPr>
        <p:txBody>
          <a:bodyPr wrap="square" lIns="0" tIns="0" rIns="0" bIns="0" rtlCol="0" anchor="ctr"/>
          <a:lstStyle/>
          <a:p>
            <a:pPr algn="l" indent="0" marL="0">
              <a:buNone/>
            </a:pPr>
            <a:r>
              <a:rPr lang="en-US" sz="1100" b="1" dirty="0">
                <a:solidFill>
                  <a:srgbClr val="FFD700"/>
                </a:solidFill>
                <a:latin typeface="Arial Black" pitchFamily="34" charset="0"/>
                <a:ea typeface="Arial Black" pitchFamily="34" charset="-122"/>
                <a:cs typeface="Arial Black" pitchFamily="34" charset="-120"/>
              </a:rPr>
              <a:t>04</a:t>
            </a:r>
            <a:endParaRPr lang="en-US" sz="1100" dirty="0"/>
          </a:p>
        </p:txBody>
      </p:sp>
      <p:sp>
        <p:nvSpPr>
          <p:cNvPr id="22" name="Text 20"/>
          <p:cNvSpPr/>
          <p:nvPr/>
        </p:nvSpPr>
        <p:spPr>
          <a:xfrm>
            <a:off x="960120" y="3611880"/>
            <a:ext cx="3429000" cy="256032"/>
          </a:xfrm>
          <a:prstGeom prst="rect">
            <a:avLst/>
          </a:prstGeom>
          <a:noFill/>
          <a:ln/>
        </p:spPr>
        <p:txBody>
          <a:bodyPr wrap="square" lIns="0" tIns="0" rIns="0" bIns="0" rtlCol="0" anchor="ctr"/>
          <a:lstStyle/>
          <a:p>
            <a:pPr indent="0" marL="0">
              <a:buNone/>
            </a:pPr>
            <a:r>
              <a:rPr lang="en-US" sz="900" b="1" spc="200" kern="0" dirty="0">
                <a:solidFill>
                  <a:srgbClr val="FFD700"/>
                </a:solidFill>
                <a:latin typeface="Calibri" pitchFamily="34" charset="0"/>
                <a:ea typeface="Calibri" pitchFamily="34" charset="-122"/>
                <a:cs typeface="Calibri" pitchFamily="34" charset="-120"/>
              </a:rPr>
              <a:t>FIGHT THAT FINE</a:t>
            </a:r>
            <a:endParaRPr lang="en-US" sz="900" dirty="0"/>
          </a:p>
        </p:txBody>
      </p:sp>
      <p:sp>
        <p:nvSpPr>
          <p:cNvPr id="23" name="Text 21"/>
          <p:cNvSpPr/>
          <p:nvPr/>
        </p:nvSpPr>
        <p:spPr>
          <a:xfrm>
            <a:off x="585216" y="3931920"/>
            <a:ext cx="3794760" cy="731520"/>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Should a user receive a ticket, Double Yellow takes them immediately to helpful advice and linked resources to challenge that fine as effectively as possible.</a:t>
            </a:r>
            <a:endParaRPr lang="en-US" sz="900" dirty="0"/>
          </a:p>
        </p:txBody>
      </p:sp>
      <p:sp>
        <p:nvSpPr>
          <p:cNvPr id="24" name="Shape 22"/>
          <p:cNvSpPr/>
          <p:nvPr/>
        </p:nvSpPr>
        <p:spPr>
          <a:xfrm>
            <a:off x="4636008" y="3493008"/>
            <a:ext cx="4050792" cy="123444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25" name="Text 23"/>
          <p:cNvSpPr/>
          <p:nvPr/>
        </p:nvSpPr>
        <p:spPr>
          <a:xfrm>
            <a:off x="4764024" y="3611880"/>
            <a:ext cx="347472" cy="274320"/>
          </a:xfrm>
          <a:prstGeom prst="rect">
            <a:avLst/>
          </a:prstGeom>
          <a:noFill/>
          <a:ln/>
        </p:spPr>
        <p:txBody>
          <a:bodyPr wrap="square" lIns="0" tIns="0" rIns="0" bIns="0" rtlCol="0" anchor="ctr"/>
          <a:lstStyle/>
          <a:p>
            <a:pPr algn="l" indent="0" marL="0">
              <a:buNone/>
            </a:pPr>
            <a:r>
              <a:rPr lang="en-US" sz="1100" b="1" dirty="0">
                <a:solidFill>
                  <a:srgbClr val="FFD700"/>
                </a:solidFill>
                <a:latin typeface="Arial Black" pitchFamily="34" charset="0"/>
                <a:ea typeface="Arial Black" pitchFamily="34" charset="-122"/>
                <a:cs typeface="Arial Black" pitchFamily="34" charset="-120"/>
              </a:rPr>
              <a:t>05</a:t>
            </a:r>
            <a:endParaRPr lang="en-US" sz="1100" dirty="0"/>
          </a:p>
        </p:txBody>
      </p:sp>
      <p:sp>
        <p:nvSpPr>
          <p:cNvPr id="26" name="Text 24"/>
          <p:cNvSpPr/>
          <p:nvPr/>
        </p:nvSpPr>
        <p:spPr>
          <a:xfrm>
            <a:off x="5138928" y="3611880"/>
            <a:ext cx="3429000" cy="256032"/>
          </a:xfrm>
          <a:prstGeom prst="rect">
            <a:avLst/>
          </a:prstGeom>
          <a:noFill/>
          <a:ln/>
        </p:spPr>
        <p:txBody>
          <a:bodyPr wrap="square" lIns="0" tIns="0" rIns="0" bIns="0" rtlCol="0" anchor="ctr"/>
          <a:lstStyle/>
          <a:p>
            <a:pPr indent="0" marL="0">
              <a:buNone/>
            </a:pPr>
            <a:r>
              <a:rPr lang="en-US" sz="900" b="1" spc="200" kern="0" dirty="0">
                <a:solidFill>
                  <a:srgbClr val="FFD700"/>
                </a:solidFill>
                <a:latin typeface="Calibri" pitchFamily="34" charset="0"/>
                <a:ea typeface="Calibri" pitchFamily="34" charset="-122"/>
                <a:cs typeface="Calibri" pitchFamily="34" charset="-120"/>
              </a:rPr>
              <a:t>NETWORK FLYWHEEL</a:t>
            </a:r>
            <a:endParaRPr lang="en-US" sz="900" dirty="0"/>
          </a:p>
        </p:txBody>
      </p:sp>
      <p:sp>
        <p:nvSpPr>
          <p:cNvPr id="27" name="Text 25"/>
          <p:cNvSpPr/>
          <p:nvPr/>
        </p:nvSpPr>
        <p:spPr>
          <a:xfrm>
            <a:off x="4764024" y="3931920"/>
            <a:ext cx="3794760" cy="731520"/>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Every new user makes the app more valuable — globally and locally. Once a city reaches critical mass, Double Yellow becomes unstoppable, saving people more and more money on avoided fines.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D700"/>
          </a:solidFill>
          <a:ln w="12700">
            <a:solidFill>
              <a:srgbClr val="FFD700"/>
            </a:solidFill>
            <a:prstDash val="solid"/>
          </a:ln>
        </p:spPr>
      </p:sp>
      <p:sp>
        <p:nvSpPr>
          <p:cNvPr id="3" name="Shape 1"/>
          <p:cNvSpPr/>
          <p:nvPr/>
        </p:nvSpPr>
        <p:spPr>
          <a:xfrm>
            <a:off x="0" y="5079492"/>
            <a:ext cx="9144000" cy="64008"/>
          </a:xfrm>
          <a:prstGeom prst="rect">
            <a:avLst/>
          </a:prstGeom>
          <a:solidFill>
            <a:srgbClr val="FFD700"/>
          </a:solidFill>
          <a:ln w="12700">
            <a:solidFill>
              <a:srgbClr val="FFD700"/>
            </a:solidFill>
            <a:prstDash val="solid"/>
          </a:ln>
        </p:spPr>
      </p:sp>
      <p:sp>
        <p:nvSpPr>
          <p:cNvPr id="4" name="Text 2"/>
          <p:cNvSpPr/>
          <p:nvPr/>
        </p:nvSpPr>
        <p:spPr>
          <a:xfrm>
            <a:off x="4572000" y="201168"/>
            <a:ext cx="4206240" cy="256032"/>
          </a:xfrm>
          <a:prstGeom prst="rect">
            <a:avLst/>
          </a:prstGeom>
          <a:noFill/>
          <a:ln/>
        </p:spPr>
        <p:txBody>
          <a:bodyPr wrap="square" lIns="0" tIns="0" rIns="0" bIns="0" rtlCol="0" anchor="ctr"/>
          <a:lstStyle/>
          <a:p>
            <a:pPr algn="r" indent="0" marL="0">
              <a:buNone/>
            </a:pPr>
            <a:r>
              <a:rPr lang="en-US" sz="900" b="1" spc="400" kern="0" dirty="0">
                <a:solidFill>
                  <a:srgbClr val="FFD700"/>
                </a:solidFill>
                <a:latin typeface="Calibri" pitchFamily="34" charset="0"/>
                <a:ea typeface="Calibri" pitchFamily="34" charset="-122"/>
                <a:cs typeface="Calibri" pitchFamily="34" charset="-120"/>
              </a:rPr>
              <a:t>MARKET SIZE</a:t>
            </a:r>
            <a:endParaRPr lang="en-US" sz="900" dirty="0"/>
          </a:p>
        </p:txBody>
      </p:sp>
      <p:sp>
        <p:nvSpPr>
          <p:cNvPr id="5" name="Text 3"/>
          <p:cNvSpPr/>
          <p:nvPr/>
        </p:nvSpPr>
        <p:spPr>
          <a:xfrm>
            <a:off x="548640" y="320040"/>
            <a:ext cx="8046720" cy="77724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3 initial target demographics —
</a:t>
            </a:r>
            <a:pPr indent="0" marL="0">
              <a:buNone/>
            </a:pPr>
            <a:r>
              <a:rPr lang="en-US" sz="2600" b="1" dirty="0">
                <a:solidFill>
                  <a:srgbClr val="FFD700"/>
                </a:solidFill>
                <a:latin typeface="Arial Black" pitchFamily="34" charset="0"/>
                <a:ea typeface="Arial Black" pitchFamily="34" charset="-122"/>
                <a:cs typeface="Arial Black" pitchFamily="34" charset="-120"/>
              </a:rPr>
              <a:t>3 million</a:t>
            </a:r>
            <a:pPr indent="0" marL="0">
              <a:buNone/>
            </a:pPr>
            <a:r>
              <a:rPr lang="en-US" sz="2600" b="1" dirty="0">
                <a:solidFill>
                  <a:srgbClr val="FFFFFF"/>
                </a:solidFill>
                <a:latin typeface="Arial Black" pitchFamily="34" charset="0"/>
                <a:ea typeface="Arial Black" pitchFamily="34" charset="-122"/>
                <a:cs typeface="Arial Black" pitchFamily="34" charset="-120"/>
              </a:rPr>
              <a:t> potential subscribers.</a:t>
            </a:r>
            <a:endParaRPr lang="en-US" sz="2600" dirty="0"/>
          </a:p>
        </p:txBody>
      </p:sp>
      <p:sp>
        <p:nvSpPr>
          <p:cNvPr id="6" name="Text 4"/>
          <p:cNvSpPr/>
          <p:nvPr/>
        </p:nvSpPr>
        <p:spPr>
          <a:xfrm>
            <a:off x="548640" y="1170432"/>
            <a:ext cx="8046720" cy="347472"/>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3 million tradies, healthcare workers and delivery drivers get slammed by parking fines every day, but our broader market extends across all industries and individuals that own a vehicle.</a:t>
            </a:r>
            <a:endParaRPr lang="en-US" sz="1100" dirty="0"/>
          </a:p>
        </p:txBody>
      </p:sp>
      <p:sp>
        <p:nvSpPr>
          <p:cNvPr id="7" name="Shape 5"/>
          <p:cNvSpPr/>
          <p:nvPr/>
        </p:nvSpPr>
        <p:spPr>
          <a:xfrm>
            <a:off x="457200" y="1627632"/>
            <a:ext cx="2606040" cy="141732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8" name="Shape 6"/>
          <p:cNvSpPr/>
          <p:nvPr/>
        </p:nvSpPr>
        <p:spPr>
          <a:xfrm>
            <a:off x="457200" y="1627632"/>
            <a:ext cx="50292" cy="1417320"/>
          </a:xfrm>
          <a:prstGeom prst="rect">
            <a:avLst/>
          </a:prstGeom>
          <a:solidFill>
            <a:srgbClr val="FFD700"/>
          </a:solidFill>
          <a:ln w="12700">
            <a:solidFill>
              <a:srgbClr val="FFD700"/>
            </a:solidFill>
            <a:prstDash val="solid"/>
          </a:ln>
        </p:spPr>
      </p:sp>
      <p:sp>
        <p:nvSpPr>
          <p:cNvPr id="9" name="Text 7"/>
          <p:cNvSpPr/>
          <p:nvPr/>
        </p:nvSpPr>
        <p:spPr>
          <a:xfrm>
            <a:off x="640080" y="1719072"/>
            <a:ext cx="2331720" cy="201168"/>
          </a:xfrm>
          <a:prstGeom prst="rect">
            <a:avLst/>
          </a:prstGeom>
          <a:noFill/>
          <a:ln/>
        </p:spPr>
        <p:txBody>
          <a:bodyPr wrap="square" lIns="0" tIns="0" rIns="0" bIns="0" rtlCol="0" anchor="ctr"/>
          <a:lstStyle/>
          <a:p>
            <a:pPr indent="0" marL="0">
              <a:buNone/>
            </a:pPr>
            <a:r>
              <a:rPr lang="en-US" sz="800" b="1" spc="200" kern="0" dirty="0">
                <a:solidFill>
                  <a:srgbClr val="FFD700"/>
                </a:solidFill>
                <a:latin typeface="Calibri" pitchFamily="34" charset="0"/>
                <a:ea typeface="Calibri" pitchFamily="34" charset="-122"/>
                <a:cs typeface="Calibri" pitchFamily="34" charset="-120"/>
              </a:rPr>
              <a:t>TRADESPEOPLE</a:t>
            </a:r>
            <a:endParaRPr lang="en-US" sz="800" dirty="0"/>
          </a:p>
        </p:txBody>
      </p:sp>
      <p:sp>
        <p:nvSpPr>
          <p:cNvPr id="10" name="Text 8"/>
          <p:cNvSpPr/>
          <p:nvPr/>
        </p:nvSpPr>
        <p:spPr>
          <a:xfrm>
            <a:off x="640080" y="1901952"/>
            <a:ext cx="233172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2,000,000</a:t>
            </a:r>
            <a:endParaRPr lang="en-US" sz="2600" dirty="0"/>
          </a:p>
        </p:txBody>
      </p:sp>
      <p:sp>
        <p:nvSpPr>
          <p:cNvPr id="11" name="Text 9"/>
          <p:cNvSpPr/>
          <p:nvPr/>
        </p:nvSpPr>
        <p:spPr>
          <a:xfrm>
            <a:off x="640080" y="2404872"/>
            <a:ext cx="2331720" cy="36576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UK construction &amp;</a:t>
            </a:r>
            <a:endParaRPr lang="en-US" sz="1000" dirty="0"/>
          </a:p>
          <a:p>
            <a:pPr indent="0" marL="0">
              <a:buNone/>
            </a:pPr>
            <a:r>
              <a:rPr lang="en-US" sz="1000" dirty="0">
                <a:solidFill>
                  <a:srgbClr val="888888"/>
                </a:solidFill>
                <a:latin typeface="Calibri" pitchFamily="34" charset="0"/>
                <a:ea typeface="Calibri" pitchFamily="34" charset="-122"/>
                <a:cs typeface="Calibri" pitchFamily="34" charset="-120"/>
              </a:rPr>
              <a:t>skilled trades workforce</a:t>
            </a:r>
            <a:endParaRPr lang="en-US" sz="1000" dirty="0"/>
          </a:p>
        </p:txBody>
      </p:sp>
      <p:sp>
        <p:nvSpPr>
          <p:cNvPr id="12" name="Text 10"/>
          <p:cNvSpPr/>
          <p:nvPr/>
        </p:nvSpPr>
        <p:spPr>
          <a:xfrm>
            <a:off x="640080" y="2816352"/>
            <a:ext cx="2331720" cy="182880"/>
          </a:xfrm>
          <a:prstGeom prst="rect">
            <a:avLst/>
          </a:prstGeom>
          <a:noFill/>
          <a:ln/>
        </p:spPr>
        <p:txBody>
          <a:bodyPr wrap="square" lIns="0" tIns="0" rIns="0" bIns="0" rtlCol="0" anchor="ctr"/>
          <a:lstStyle/>
          <a:p>
            <a:pPr indent="0" marL="0">
              <a:buNone/>
            </a:pPr>
            <a:r>
              <a:rPr lang="en-US" sz="700" i="1" dirty="0">
                <a:solidFill>
                  <a:srgbClr val="555555"/>
                </a:solidFill>
                <a:latin typeface="Calibri" pitchFamily="34" charset="0"/>
                <a:ea typeface="Calibri" pitchFamily="34" charset="-122"/>
                <a:cs typeface="Calibri" pitchFamily="34" charset="-120"/>
              </a:rPr>
              <a:t>ONS / Statista 2024</a:t>
            </a:r>
            <a:endParaRPr lang="en-US" sz="700" dirty="0"/>
          </a:p>
        </p:txBody>
      </p:sp>
      <p:sp>
        <p:nvSpPr>
          <p:cNvPr id="13" name="Shape 11"/>
          <p:cNvSpPr/>
          <p:nvPr/>
        </p:nvSpPr>
        <p:spPr>
          <a:xfrm>
            <a:off x="3291840" y="1627632"/>
            <a:ext cx="2606040" cy="141732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14" name="Shape 12"/>
          <p:cNvSpPr/>
          <p:nvPr/>
        </p:nvSpPr>
        <p:spPr>
          <a:xfrm>
            <a:off x="3291840" y="1627632"/>
            <a:ext cx="50292" cy="1417320"/>
          </a:xfrm>
          <a:prstGeom prst="rect">
            <a:avLst/>
          </a:prstGeom>
          <a:solidFill>
            <a:srgbClr val="FFD700"/>
          </a:solidFill>
          <a:ln w="12700">
            <a:solidFill>
              <a:srgbClr val="FFD700"/>
            </a:solidFill>
            <a:prstDash val="solid"/>
          </a:ln>
        </p:spPr>
      </p:sp>
      <p:sp>
        <p:nvSpPr>
          <p:cNvPr id="15" name="Text 13"/>
          <p:cNvSpPr/>
          <p:nvPr/>
        </p:nvSpPr>
        <p:spPr>
          <a:xfrm>
            <a:off x="3474720" y="1719072"/>
            <a:ext cx="2331720" cy="201168"/>
          </a:xfrm>
          <a:prstGeom prst="rect">
            <a:avLst/>
          </a:prstGeom>
          <a:noFill/>
          <a:ln/>
        </p:spPr>
        <p:txBody>
          <a:bodyPr wrap="square" lIns="0" tIns="0" rIns="0" bIns="0" rtlCol="0" anchor="ctr"/>
          <a:lstStyle/>
          <a:p>
            <a:pPr indent="0" marL="0">
              <a:buNone/>
            </a:pPr>
            <a:r>
              <a:rPr lang="en-US" sz="800" b="1" spc="200" kern="0" dirty="0">
                <a:solidFill>
                  <a:srgbClr val="FFD700"/>
                </a:solidFill>
                <a:latin typeface="Calibri" pitchFamily="34" charset="0"/>
                <a:ea typeface="Calibri" pitchFamily="34" charset="-122"/>
                <a:cs typeface="Calibri" pitchFamily="34" charset="-120"/>
              </a:rPr>
              <a:t>HEALTHCARE WORKERS</a:t>
            </a:r>
            <a:endParaRPr lang="en-US" sz="800" dirty="0"/>
          </a:p>
        </p:txBody>
      </p:sp>
      <p:sp>
        <p:nvSpPr>
          <p:cNvPr id="16" name="Text 14"/>
          <p:cNvSpPr/>
          <p:nvPr/>
        </p:nvSpPr>
        <p:spPr>
          <a:xfrm>
            <a:off x="3474720" y="1901952"/>
            <a:ext cx="233172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700,000</a:t>
            </a:r>
            <a:endParaRPr lang="en-US" sz="2600" dirty="0"/>
          </a:p>
        </p:txBody>
      </p:sp>
      <p:sp>
        <p:nvSpPr>
          <p:cNvPr id="17" name="Text 15"/>
          <p:cNvSpPr/>
          <p:nvPr/>
        </p:nvSpPr>
        <p:spPr>
          <a:xfrm>
            <a:off x="3474720" y="2404872"/>
            <a:ext cx="2331720" cy="36576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NHS staff who regularly</a:t>
            </a:r>
            <a:endParaRPr lang="en-US" sz="1000" dirty="0"/>
          </a:p>
          <a:p>
            <a:pPr indent="0" marL="0">
              <a:buNone/>
            </a:pPr>
            <a:r>
              <a:rPr lang="en-US" sz="1000" dirty="0">
                <a:solidFill>
                  <a:srgbClr val="888888"/>
                </a:solidFill>
                <a:latin typeface="Calibri" pitchFamily="34" charset="0"/>
                <a:ea typeface="Calibri" pitchFamily="34" charset="-122"/>
                <a:cs typeface="Calibri" pitchFamily="34" charset="-120"/>
              </a:rPr>
              <a:t>face street parking risk</a:t>
            </a:r>
            <a:endParaRPr lang="en-US" sz="1000" dirty="0"/>
          </a:p>
        </p:txBody>
      </p:sp>
      <p:sp>
        <p:nvSpPr>
          <p:cNvPr id="18" name="Text 16"/>
          <p:cNvSpPr/>
          <p:nvPr/>
        </p:nvSpPr>
        <p:spPr>
          <a:xfrm>
            <a:off x="3474720" y="2816352"/>
            <a:ext cx="2331720" cy="182880"/>
          </a:xfrm>
          <a:prstGeom prst="rect">
            <a:avLst/>
          </a:prstGeom>
          <a:noFill/>
          <a:ln/>
        </p:spPr>
        <p:txBody>
          <a:bodyPr wrap="square" lIns="0" tIns="0" rIns="0" bIns="0" rtlCol="0" anchor="ctr"/>
          <a:lstStyle/>
          <a:p>
            <a:pPr indent="0" marL="0">
              <a:buNone/>
            </a:pPr>
            <a:r>
              <a:rPr lang="en-US" sz="700" i="1" dirty="0">
                <a:solidFill>
                  <a:srgbClr val="555555"/>
                </a:solidFill>
                <a:latin typeface="Calibri" pitchFamily="34" charset="0"/>
                <a:ea typeface="Calibri" pitchFamily="34" charset="-122"/>
                <a:cs typeface="Calibri" pitchFamily="34" charset="-120"/>
              </a:rPr>
              <a:t>NHS Digital 2024 / ONS</a:t>
            </a:r>
            <a:endParaRPr lang="en-US" sz="700" dirty="0"/>
          </a:p>
        </p:txBody>
      </p:sp>
      <p:sp>
        <p:nvSpPr>
          <p:cNvPr id="19" name="Shape 17"/>
          <p:cNvSpPr/>
          <p:nvPr/>
        </p:nvSpPr>
        <p:spPr>
          <a:xfrm>
            <a:off x="6126480" y="1627632"/>
            <a:ext cx="2606040" cy="141732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20" name="Shape 18"/>
          <p:cNvSpPr/>
          <p:nvPr/>
        </p:nvSpPr>
        <p:spPr>
          <a:xfrm>
            <a:off x="6126480" y="1627632"/>
            <a:ext cx="50292" cy="1417320"/>
          </a:xfrm>
          <a:prstGeom prst="rect">
            <a:avLst/>
          </a:prstGeom>
          <a:solidFill>
            <a:srgbClr val="FFD700"/>
          </a:solidFill>
          <a:ln w="12700">
            <a:solidFill>
              <a:srgbClr val="FFD700"/>
            </a:solidFill>
            <a:prstDash val="solid"/>
          </a:ln>
        </p:spPr>
      </p:sp>
      <p:sp>
        <p:nvSpPr>
          <p:cNvPr id="21" name="Text 19"/>
          <p:cNvSpPr/>
          <p:nvPr/>
        </p:nvSpPr>
        <p:spPr>
          <a:xfrm>
            <a:off x="6309360" y="1719072"/>
            <a:ext cx="2331720" cy="201168"/>
          </a:xfrm>
          <a:prstGeom prst="rect">
            <a:avLst/>
          </a:prstGeom>
          <a:noFill/>
          <a:ln/>
        </p:spPr>
        <p:txBody>
          <a:bodyPr wrap="square" lIns="0" tIns="0" rIns="0" bIns="0" rtlCol="0" anchor="ctr"/>
          <a:lstStyle/>
          <a:p>
            <a:pPr indent="0" marL="0">
              <a:buNone/>
            </a:pPr>
            <a:r>
              <a:rPr lang="en-US" sz="800" b="1" spc="200" kern="0" dirty="0">
                <a:solidFill>
                  <a:srgbClr val="FFD700"/>
                </a:solidFill>
                <a:latin typeface="Calibri" pitchFamily="34" charset="0"/>
                <a:ea typeface="Calibri" pitchFamily="34" charset="-122"/>
                <a:cs typeface="Calibri" pitchFamily="34" charset="-120"/>
              </a:rPr>
              <a:t>DELIVERY DRIVERS</a:t>
            </a:r>
            <a:endParaRPr lang="en-US" sz="800" dirty="0"/>
          </a:p>
        </p:txBody>
      </p:sp>
      <p:sp>
        <p:nvSpPr>
          <p:cNvPr id="22" name="Text 20"/>
          <p:cNvSpPr/>
          <p:nvPr/>
        </p:nvSpPr>
        <p:spPr>
          <a:xfrm>
            <a:off x="6309360" y="1901952"/>
            <a:ext cx="233172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300,000</a:t>
            </a:r>
            <a:endParaRPr lang="en-US" sz="2600" dirty="0"/>
          </a:p>
        </p:txBody>
      </p:sp>
      <p:sp>
        <p:nvSpPr>
          <p:cNvPr id="23" name="Text 21"/>
          <p:cNvSpPr/>
          <p:nvPr/>
        </p:nvSpPr>
        <p:spPr>
          <a:xfrm>
            <a:off x="6309360" y="2404872"/>
            <a:ext cx="2331720" cy="36576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Self-employed couriers &amp;</a:t>
            </a:r>
            <a:endParaRPr lang="en-US" sz="1000" dirty="0"/>
          </a:p>
          <a:p>
            <a:pPr indent="0" marL="0">
              <a:buNone/>
            </a:pPr>
            <a:r>
              <a:rPr lang="en-US" sz="1000" dirty="0">
                <a:solidFill>
                  <a:srgbClr val="888888"/>
                </a:solidFill>
                <a:latin typeface="Calibri" pitchFamily="34" charset="0"/>
                <a:ea typeface="Calibri" pitchFamily="34" charset="-122"/>
                <a:cs typeface="Calibri" pitchFamily="34" charset="-120"/>
              </a:rPr>
              <a:t>gig economy drivers</a:t>
            </a:r>
            <a:endParaRPr lang="en-US" sz="1000" dirty="0"/>
          </a:p>
        </p:txBody>
      </p:sp>
      <p:sp>
        <p:nvSpPr>
          <p:cNvPr id="24" name="Text 22"/>
          <p:cNvSpPr/>
          <p:nvPr/>
        </p:nvSpPr>
        <p:spPr>
          <a:xfrm>
            <a:off x="6309360" y="2816352"/>
            <a:ext cx="2331720" cy="182880"/>
          </a:xfrm>
          <a:prstGeom prst="rect">
            <a:avLst/>
          </a:prstGeom>
          <a:noFill/>
          <a:ln/>
        </p:spPr>
        <p:txBody>
          <a:bodyPr wrap="square" lIns="0" tIns="0" rIns="0" bIns="0" rtlCol="0" anchor="ctr"/>
          <a:lstStyle/>
          <a:p>
            <a:pPr indent="0" marL="0">
              <a:buNone/>
            </a:pPr>
            <a:r>
              <a:rPr lang="en-US" sz="700" i="1" dirty="0">
                <a:solidFill>
                  <a:srgbClr val="555555"/>
                </a:solidFill>
                <a:latin typeface="Calibri" pitchFamily="34" charset="0"/>
                <a:ea typeface="Calibri" pitchFamily="34" charset="-122"/>
                <a:cs typeface="Calibri" pitchFamily="34" charset="-120"/>
              </a:rPr>
              <a:t>Institute of Couriers 2024</a:t>
            </a:r>
            <a:endParaRPr lang="en-US" sz="700" dirty="0"/>
          </a:p>
        </p:txBody>
      </p:sp>
      <p:sp>
        <p:nvSpPr>
          <p:cNvPr id="25" name="Shape 23"/>
          <p:cNvSpPr/>
          <p:nvPr/>
        </p:nvSpPr>
        <p:spPr>
          <a:xfrm>
            <a:off x="457200" y="3154680"/>
            <a:ext cx="8229600" cy="594360"/>
          </a:xfrm>
          <a:prstGeom prst="rect">
            <a:avLst/>
          </a:prstGeom>
          <a:solidFill>
            <a:srgbClr val="FFD700"/>
          </a:solidFill>
          <a:ln w="12700">
            <a:solidFill>
              <a:srgbClr val="FFD700"/>
            </a:solidFill>
            <a:prstDash val="solid"/>
          </a:ln>
        </p:spPr>
      </p:sp>
      <p:sp>
        <p:nvSpPr>
          <p:cNvPr id="26" name="Text 24"/>
          <p:cNvSpPr/>
          <p:nvPr/>
        </p:nvSpPr>
        <p:spPr>
          <a:xfrm>
            <a:off x="594360" y="3200400"/>
            <a:ext cx="7955280" cy="502920"/>
          </a:xfrm>
          <a:prstGeom prst="rect">
            <a:avLst/>
          </a:prstGeom>
          <a:noFill/>
          <a:ln/>
        </p:spPr>
        <p:txBody>
          <a:bodyPr wrap="square" lIns="0" tIns="0" rIns="0" bIns="0" rtlCol="0" anchor="ctr"/>
          <a:lstStyle/>
          <a:p>
            <a:pPr indent="0" marL="0">
              <a:buNone/>
            </a:pPr>
            <a:r>
              <a:rPr lang="en-US" sz="1200" dirty="0">
                <a:solidFill>
                  <a:srgbClr val="0D0D0D"/>
                </a:solidFill>
                <a:latin typeface="Calibri" pitchFamily="34" charset="0"/>
                <a:ea typeface="Calibri" pitchFamily="34" charset="-122"/>
                <a:cs typeface="Calibri" pitchFamily="34" charset="-120"/>
              </a:rPr>
              <a:t>Total core addressable market: </a:t>
            </a:r>
            <a:pPr indent="0" marL="0">
              <a:buNone/>
            </a:pPr>
            <a:r>
              <a:rPr lang="en-US" sz="1200" b="1" dirty="0">
                <a:solidFill>
                  <a:srgbClr val="0D0D0D"/>
                </a:solidFill>
                <a:latin typeface="Calibri" pitchFamily="34" charset="0"/>
                <a:ea typeface="Calibri" pitchFamily="34" charset="-122"/>
                <a:cs typeface="Calibri" pitchFamily="34" charset="-120"/>
              </a:rPr>
              <a:t>3,000,000 potential subscribers</a:t>
            </a:r>
            <a:pPr indent="0" marL="0">
              <a:buNone/>
            </a:pPr>
            <a:r>
              <a:rPr lang="en-US" sz="1200" dirty="0">
                <a:solidFill>
                  <a:srgbClr val="0D0D0D"/>
                </a:solidFill>
                <a:latin typeface="Calibri" pitchFamily="34" charset="0"/>
                <a:ea typeface="Calibri" pitchFamily="34" charset="-122"/>
                <a:cs typeface="Calibri" pitchFamily="34" charset="-120"/>
              </a:rPr>
              <a:t> — before counting 34M general UK drivers, B2B fleet accounts, or international expansion.</a:t>
            </a:r>
            <a:endParaRPr lang="en-US" sz="1200" dirty="0"/>
          </a:p>
        </p:txBody>
      </p:sp>
      <p:sp>
        <p:nvSpPr>
          <p:cNvPr id="27" name="Text 25"/>
          <p:cNvSpPr/>
          <p:nvPr/>
        </p:nvSpPr>
        <p:spPr>
          <a:xfrm>
            <a:off x="548640" y="3867912"/>
            <a:ext cx="80467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At 10% penetration of the professional market: £19.2M ARR.  ·  At 30%: £57.7M ARR.</a:t>
            </a:r>
            <a:endParaRPr lang="en-US" sz="1300" dirty="0"/>
          </a:p>
        </p:txBody>
      </p:sp>
      <p:sp>
        <p:nvSpPr>
          <p:cNvPr id="28" name="Text 26"/>
          <p:cNvSpPr/>
          <p:nvPr/>
        </p:nvSpPr>
        <p:spPr>
          <a:xfrm>
            <a:off x="548640" y="4233672"/>
            <a:ext cx="8046720" cy="256032"/>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Searching for parking costs the UK economy an estimated £23.3 billion per year in wasted time alone (INRIX).</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D700"/>
          </a:solidFill>
          <a:ln w="12700">
            <a:solidFill>
              <a:srgbClr val="FFD700"/>
            </a:solidFill>
            <a:prstDash val="solid"/>
          </a:ln>
        </p:spPr>
      </p:sp>
      <p:sp>
        <p:nvSpPr>
          <p:cNvPr id="3" name="Shape 1"/>
          <p:cNvSpPr/>
          <p:nvPr/>
        </p:nvSpPr>
        <p:spPr>
          <a:xfrm>
            <a:off x="0" y="5079492"/>
            <a:ext cx="9144000" cy="64008"/>
          </a:xfrm>
          <a:prstGeom prst="rect">
            <a:avLst/>
          </a:prstGeom>
          <a:solidFill>
            <a:srgbClr val="FFD700"/>
          </a:solidFill>
          <a:ln w="12700">
            <a:solidFill>
              <a:srgbClr val="FFD700"/>
            </a:solidFill>
            <a:prstDash val="solid"/>
          </a:ln>
        </p:spPr>
      </p:sp>
      <p:sp>
        <p:nvSpPr>
          <p:cNvPr id="4" name="Text 2"/>
          <p:cNvSpPr/>
          <p:nvPr/>
        </p:nvSpPr>
        <p:spPr>
          <a:xfrm>
            <a:off x="4572000" y="201168"/>
            <a:ext cx="4206240" cy="256032"/>
          </a:xfrm>
          <a:prstGeom prst="rect">
            <a:avLst/>
          </a:prstGeom>
          <a:noFill/>
          <a:ln/>
        </p:spPr>
        <p:txBody>
          <a:bodyPr wrap="square" lIns="0" tIns="0" rIns="0" bIns="0" rtlCol="0" anchor="ctr"/>
          <a:lstStyle/>
          <a:p>
            <a:pPr algn="r" indent="0" marL="0">
              <a:buNone/>
            </a:pPr>
            <a:r>
              <a:rPr lang="en-US" sz="900" b="1" spc="400" kern="0" dirty="0">
                <a:solidFill>
                  <a:srgbClr val="FFD700"/>
                </a:solidFill>
                <a:latin typeface="Calibri" pitchFamily="34" charset="0"/>
                <a:ea typeface="Calibri" pitchFamily="34" charset="-122"/>
                <a:cs typeface="Calibri" pitchFamily="34" charset="-120"/>
              </a:rPr>
              <a:t>BUSINESS MODEL</a:t>
            </a:r>
            <a:endParaRPr lang="en-US" sz="900" dirty="0"/>
          </a:p>
        </p:txBody>
      </p:sp>
      <p:sp>
        <p:nvSpPr>
          <p:cNvPr id="5" name="Text 3"/>
          <p:cNvSpPr/>
          <p:nvPr/>
        </p:nvSpPr>
        <p:spPr>
          <a:xfrm>
            <a:off x="548640" y="502920"/>
            <a:ext cx="8046720" cy="59436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Freemium subscription. One avoided fine pays for the year.</a:t>
            </a:r>
            <a:endParaRPr lang="en-US" sz="2600" dirty="0"/>
          </a:p>
        </p:txBody>
      </p:sp>
      <p:sp>
        <p:nvSpPr>
          <p:cNvPr id="6" name="Shape 4"/>
          <p:cNvSpPr/>
          <p:nvPr/>
        </p:nvSpPr>
        <p:spPr>
          <a:xfrm>
            <a:off x="457200" y="1417320"/>
            <a:ext cx="8229600" cy="493776"/>
          </a:xfrm>
          <a:prstGeom prst="rect">
            <a:avLst/>
          </a:prstGeom>
          <a:solidFill>
            <a:srgbClr val="1A1A1A"/>
          </a:solidFill>
          <a:ln w="12700">
            <a:solidFill>
              <a:srgbClr val="333333"/>
            </a:solidFill>
            <a:prstDash val="solid"/>
          </a:ln>
        </p:spPr>
      </p:sp>
      <p:sp>
        <p:nvSpPr>
          <p:cNvPr id="7" name="Text 5"/>
          <p:cNvSpPr/>
          <p:nvPr/>
        </p:nvSpPr>
        <p:spPr>
          <a:xfrm>
            <a:off x="640080" y="1536192"/>
            <a:ext cx="1554480" cy="256032"/>
          </a:xfrm>
          <a:prstGeom prst="rect">
            <a:avLst/>
          </a:prstGeom>
          <a:noFill/>
          <a:ln/>
        </p:spPr>
        <p:txBody>
          <a:bodyPr wrap="square" lIns="0" tIns="0" rIns="0" bIns="0" rtlCol="0" anchor="ctr"/>
          <a:lstStyle/>
          <a:p>
            <a:pPr indent="0" marL="0">
              <a:buNone/>
            </a:pPr>
            <a:r>
              <a:rPr lang="en-US" sz="1000" b="1" spc="100" kern="0" dirty="0">
                <a:solidFill>
                  <a:srgbClr val="FFD700"/>
                </a:solidFill>
                <a:latin typeface="Calibri" pitchFamily="34" charset="0"/>
                <a:ea typeface="Calibri" pitchFamily="34" charset="-122"/>
                <a:cs typeface="Calibri" pitchFamily="34" charset="-120"/>
              </a:rPr>
              <a:t>FREE</a:t>
            </a:r>
            <a:endParaRPr lang="en-US" sz="1000" dirty="0"/>
          </a:p>
        </p:txBody>
      </p:sp>
      <p:sp>
        <p:nvSpPr>
          <p:cNvPr id="8" name="Text 6"/>
          <p:cNvSpPr/>
          <p:nvPr/>
        </p:nvSpPr>
        <p:spPr>
          <a:xfrm>
            <a:off x="2331720" y="1517904"/>
            <a:ext cx="201168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Black" pitchFamily="34" charset="0"/>
                <a:ea typeface="Arial Black" pitchFamily="34" charset="-122"/>
                <a:cs typeface="Arial Black" pitchFamily="34" charset="-120"/>
              </a:rPr>
              <a:t>£0 / month</a:t>
            </a:r>
            <a:endParaRPr lang="en-US" sz="1400" dirty="0"/>
          </a:p>
        </p:txBody>
      </p:sp>
      <p:sp>
        <p:nvSpPr>
          <p:cNvPr id="9" name="Text 7"/>
          <p:cNvSpPr/>
          <p:nvPr/>
        </p:nvSpPr>
        <p:spPr>
          <a:xfrm>
            <a:off x="4480560" y="1563624"/>
            <a:ext cx="1280160" cy="219456"/>
          </a:xfrm>
          <a:prstGeom prst="rect">
            <a:avLst/>
          </a:prstGeom>
          <a:noFill/>
          <a:ln/>
        </p:spPr>
        <p:txBody>
          <a:bodyPr wrap="square" lIns="0" tIns="0" rIns="0" bIns="0" rtlCol="0" anchor="ctr"/>
          <a:lstStyle/>
          <a:p>
            <a:pPr indent="0" marL="0">
              <a:buNone/>
            </a:pPr>
            <a:r>
              <a:rPr lang="en-US" sz="900" i="1" dirty="0">
                <a:solidFill>
                  <a:srgbClr val="555555"/>
                </a:solidFill>
                <a:latin typeface="Calibri" pitchFamily="34" charset="0"/>
                <a:ea typeface="Calibri" pitchFamily="34" charset="-122"/>
                <a:cs typeface="Calibri" pitchFamily="34" charset="-120"/>
              </a:rPr>
              <a:t>£0 / year</a:t>
            </a:r>
            <a:endParaRPr lang="en-US" sz="900" dirty="0"/>
          </a:p>
        </p:txBody>
      </p:sp>
      <p:sp>
        <p:nvSpPr>
          <p:cNvPr id="10" name="Text 8"/>
          <p:cNvSpPr/>
          <p:nvPr/>
        </p:nvSpPr>
        <p:spPr>
          <a:xfrm>
            <a:off x="5897880" y="1545336"/>
            <a:ext cx="2651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Unlimited activations, ad-supported</a:t>
            </a:r>
            <a:endParaRPr lang="en-US" sz="950" dirty="0"/>
          </a:p>
        </p:txBody>
      </p:sp>
      <p:sp>
        <p:nvSpPr>
          <p:cNvPr id="11" name="Shape 9"/>
          <p:cNvSpPr/>
          <p:nvPr/>
        </p:nvSpPr>
        <p:spPr>
          <a:xfrm>
            <a:off x="457200" y="1965960"/>
            <a:ext cx="8229600" cy="493776"/>
          </a:xfrm>
          <a:prstGeom prst="rect">
            <a:avLst/>
          </a:prstGeom>
          <a:solidFill>
            <a:srgbClr val="1A1A1A"/>
          </a:solidFill>
          <a:ln w="12700">
            <a:solidFill>
              <a:srgbClr val="333333"/>
            </a:solidFill>
            <a:prstDash val="solid"/>
          </a:ln>
        </p:spPr>
      </p:sp>
      <p:sp>
        <p:nvSpPr>
          <p:cNvPr id="12" name="Text 10"/>
          <p:cNvSpPr/>
          <p:nvPr/>
        </p:nvSpPr>
        <p:spPr>
          <a:xfrm>
            <a:off x="640080" y="2084832"/>
            <a:ext cx="1554480" cy="256032"/>
          </a:xfrm>
          <a:prstGeom prst="rect">
            <a:avLst/>
          </a:prstGeom>
          <a:noFill/>
          <a:ln/>
        </p:spPr>
        <p:txBody>
          <a:bodyPr wrap="square" lIns="0" tIns="0" rIns="0" bIns="0" rtlCol="0" anchor="ctr"/>
          <a:lstStyle/>
          <a:p>
            <a:pPr indent="0" marL="0">
              <a:buNone/>
            </a:pPr>
            <a:r>
              <a:rPr lang="en-US" sz="1000" b="1" spc="100" kern="0" dirty="0">
                <a:solidFill>
                  <a:srgbClr val="FFD700"/>
                </a:solidFill>
                <a:latin typeface="Calibri" pitchFamily="34" charset="0"/>
                <a:ea typeface="Calibri" pitchFamily="34" charset="-122"/>
                <a:cs typeface="Calibri" pitchFamily="34" charset="-120"/>
              </a:rPr>
              <a:t>BASIC</a:t>
            </a:r>
            <a:endParaRPr lang="en-US" sz="1000" dirty="0"/>
          </a:p>
        </p:txBody>
      </p:sp>
      <p:sp>
        <p:nvSpPr>
          <p:cNvPr id="13" name="Text 11"/>
          <p:cNvSpPr/>
          <p:nvPr/>
        </p:nvSpPr>
        <p:spPr>
          <a:xfrm>
            <a:off x="2331720" y="2066544"/>
            <a:ext cx="201168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Black" pitchFamily="34" charset="0"/>
                <a:ea typeface="Arial Black" pitchFamily="34" charset="-122"/>
                <a:cs typeface="Arial Black" pitchFamily="34" charset="-120"/>
              </a:rPr>
              <a:t>£2.99 / month</a:t>
            </a:r>
            <a:endParaRPr lang="en-US" sz="1400" dirty="0"/>
          </a:p>
        </p:txBody>
      </p:sp>
      <p:sp>
        <p:nvSpPr>
          <p:cNvPr id="14" name="Text 12"/>
          <p:cNvSpPr/>
          <p:nvPr/>
        </p:nvSpPr>
        <p:spPr>
          <a:xfrm>
            <a:off x="4480560" y="2112264"/>
            <a:ext cx="1280160" cy="219456"/>
          </a:xfrm>
          <a:prstGeom prst="rect">
            <a:avLst/>
          </a:prstGeom>
          <a:noFill/>
          <a:ln/>
        </p:spPr>
        <p:txBody>
          <a:bodyPr wrap="square" lIns="0" tIns="0" rIns="0" bIns="0" rtlCol="0" anchor="ctr"/>
          <a:lstStyle/>
          <a:p>
            <a:pPr indent="0" marL="0">
              <a:buNone/>
            </a:pPr>
            <a:r>
              <a:rPr lang="en-US" sz="900" i="1" dirty="0">
                <a:solidFill>
                  <a:srgbClr val="555555"/>
                </a:solidFill>
                <a:latin typeface="Calibri" pitchFamily="34" charset="0"/>
                <a:ea typeface="Calibri" pitchFamily="34" charset="-122"/>
                <a:cs typeface="Calibri" pitchFamily="34" charset="-120"/>
              </a:rPr>
              <a:t>£35.88 / year</a:t>
            </a:r>
            <a:endParaRPr lang="en-US" sz="900" dirty="0"/>
          </a:p>
        </p:txBody>
      </p:sp>
      <p:sp>
        <p:nvSpPr>
          <p:cNvPr id="15" name="Text 13"/>
          <p:cNvSpPr/>
          <p:nvPr/>
        </p:nvSpPr>
        <p:spPr>
          <a:xfrm>
            <a:off x="5897880" y="2093976"/>
            <a:ext cx="2651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8 activations/month, ad-free</a:t>
            </a:r>
            <a:endParaRPr lang="en-US" sz="950" dirty="0"/>
          </a:p>
        </p:txBody>
      </p:sp>
      <p:sp>
        <p:nvSpPr>
          <p:cNvPr id="16" name="Shape 14"/>
          <p:cNvSpPr/>
          <p:nvPr/>
        </p:nvSpPr>
        <p:spPr>
          <a:xfrm>
            <a:off x="457200" y="2514600"/>
            <a:ext cx="8229600" cy="493776"/>
          </a:xfrm>
          <a:prstGeom prst="rect">
            <a:avLst/>
          </a:prstGeom>
          <a:solidFill>
            <a:srgbClr val="FFD700"/>
          </a:solidFill>
          <a:ln w="12700">
            <a:solidFill>
              <a:srgbClr val="FFD700"/>
            </a:solidFill>
            <a:prstDash val="solid"/>
          </a:ln>
        </p:spPr>
      </p:sp>
      <p:sp>
        <p:nvSpPr>
          <p:cNvPr id="17" name="Text 15"/>
          <p:cNvSpPr/>
          <p:nvPr/>
        </p:nvSpPr>
        <p:spPr>
          <a:xfrm>
            <a:off x="640080" y="2633472"/>
            <a:ext cx="1554480" cy="256032"/>
          </a:xfrm>
          <a:prstGeom prst="rect">
            <a:avLst/>
          </a:prstGeom>
          <a:noFill/>
          <a:ln/>
        </p:spPr>
        <p:txBody>
          <a:bodyPr wrap="square" lIns="0" tIns="0" rIns="0" bIns="0" rtlCol="0" anchor="ctr"/>
          <a:lstStyle/>
          <a:p>
            <a:pPr indent="0" marL="0">
              <a:buNone/>
            </a:pPr>
            <a:r>
              <a:rPr lang="en-US" sz="1000" b="1" spc="100" kern="0" dirty="0">
                <a:solidFill>
                  <a:srgbClr val="0D0D0D"/>
                </a:solidFill>
                <a:latin typeface="Calibri" pitchFamily="34" charset="0"/>
                <a:ea typeface="Calibri" pitchFamily="34" charset="-122"/>
                <a:cs typeface="Calibri" pitchFamily="34" charset="-120"/>
              </a:rPr>
              <a:t>PRO  ★</a:t>
            </a:r>
            <a:endParaRPr lang="en-US" sz="1000" dirty="0"/>
          </a:p>
        </p:txBody>
      </p:sp>
      <p:sp>
        <p:nvSpPr>
          <p:cNvPr id="18" name="Text 16"/>
          <p:cNvSpPr/>
          <p:nvPr/>
        </p:nvSpPr>
        <p:spPr>
          <a:xfrm>
            <a:off x="2331720" y="2615184"/>
            <a:ext cx="2011680" cy="292608"/>
          </a:xfrm>
          <a:prstGeom prst="rect">
            <a:avLst/>
          </a:prstGeom>
          <a:noFill/>
          <a:ln/>
        </p:spPr>
        <p:txBody>
          <a:bodyPr wrap="square" lIns="0" tIns="0" rIns="0" bIns="0" rtlCol="0" anchor="ctr"/>
          <a:lstStyle/>
          <a:p>
            <a:pPr indent="0" marL="0">
              <a:buNone/>
            </a:pPr>
            <a:r>
              <a:rPr lang="en-US" sz="1400" b="1" dirty="0">
                <a:solidFill>
                  <a:srgbClr val="0D0D0D"/>
                </a:solidFill>
                <a:latin typeface="Arial Black" pitchFamily="34" charset="0"/>
                <a:ea typeface="Arial Black" pitchFamily="34" charset="-122"/>
                <a:cs typeface="Arial Black" pitchFamily="34" charset="-120"/>
              </a:rPr>
              <a:t>£5.99 / month</a:t>
            </a:r>
            <a:endParaRPr lang="en-US" sz="1400" dirty="0"/>
          </a:p>
        </p:txBody>
      </p:sp>
      <p:sp>
        <p:nvSpPr>
          <p:cNvPr id="19" name="Text 17"/>
          <p:cNvSpPr/>
          <p:nvPr/>
        </p:nvSpPr>
        <p:spPr>
          <a:xfrm>
            <a:off x="4480560" y="2660904"/>
            <a:ext cx="1280160" cy="219456"/>
          </a:xfrm>
          <a:prstGeom prst="rect">
            <a:avLst/>
          </a:prstGeom>
          <a:noFill/>
          <a:ln/>
        </p:spPr>
        <p:txBody>
          <a:bodyPr wrap="square" lIns="0" tIns="0" rIns="0" bIns="0" rtlCol="0" anchor="ctr"/>
          <a:lstStyle/>
          <a:p>
            <a:pPr indent="0" marL="0">
              <a:buNone/>
            </a:pPr>
            <a:r>
              <a:rPr lang="en-US" sz="900" i="1" dirty="0">
                <a:solidFill>
                  <a:srgbClr val="0D0D0D"/>
                </a:solidFill>
                <a:latin typeface="Calibri" pitchFamily="34" charset="0"/>
                <a:ea typeface="Calibri" pitchFamily="34" charset="-122"/>
                <a:cs typeface="Calibri" pitchFamily="34" charset="-120"/>
              </a:rPr>
              <a:t>£71.88 / year</a:t>
            </a:r>
            <a:endParaRPr lang="en-US" sz="900" dirty="0"/>
          </a:p>
        </p:txBody>
      </p:sp>
      <p:sp>
        <p:nvSpPr>
          <p:cNvPr id="20" name="Text 18"/>
          <p:cNvSpPr/>
          <p:nvPr/>
        </p:nvSpPr>
        <p:spPr>
          <a:xfrm>
            <a:off x="5897880" y="2642616"/>
            <a:ext cx="2651760" cy="256032"/>
          </a:xfrm>
          <a:prstGeom prst="rect">
            <a:avLst/>
          </a:prstGeom>
          <a:noFill/>
          <a:ln/>
        </p:spPr>
        <p:txBody>
          <a:bodyPr wrap="square" lIns="0" tIns="0" rIns="0" bIns="0" rtlCol="0" anchor="ctr"/>
          <a:lstStyle/>
          <a:p>
            <a:pPr indent="0" marL="0">
              <a:buNone/>
            </a:pPr>
            <a:r>
              <a:rPr lang="en-US" sz="950" dirty="0">
                <a:solidFill>
                  <a:srgbClr val="0D0D0D"/>
                </a:solidFill>
                <a:latin typeface="Calibri" pitchFamily="34" charset="0"/>
                <a:ea typeface="Calibri" pitchFamily="34" charset="-122"/>
                <a:cs typeface="Calibri" pitchFamily="34" charset="-120"/>
              </a:rPr>
              <a:t>20 activations/month, ad-free, priority alerts</a:t>
            </a:r>
            <a:endParaRPr lang="en-US" sz="950" dirty="0"/>
          </a:p>
        </p:txBody>
      </p:sp>
      <p:sp>
        <p:nvSpPr>
          <p:cNvPr id="21" name="Shape 19"/>
          <p:cNvSpPr/>
          <p:nvPr/>
        </p:nvSpPr>
        <p:spPr>
          <a:xfrm>
            <a:off x="457200" y="3063240"/>
            <a:ext cx="8229600" cy="493776"/>
          </a:xfrm>
          <a:prstGeom prst="rect">
            <a:avLst/>
          </a:prstGeom>
          <a:solidFill>
            <a:srgbClr val="1A1A1A"/>
          </a:solidFill>
          <a:ln w="12700">
            <a:solidFill>
              <a:srgbClr val="333333"/>
            </a:solidFill>
            <a:prstDash val="solid"/>
          </a:ln>
        </p:spPr>
      </p:sp>
      <p:sp>
        <p:nvSpPr>
          <p:cNvPr id="22" name="Text 20"/>
          <p:cNvSpPr/>
          <p:nvPr/>
        </p:nvSpPr>
        <p:spPr>
          <a:xfrm>
            <a:off x="640080" y="3182112"/>
            <a:ext cx="1554480" cy="256032"/>
          </a:xfrm>
          <a:prstGeom prst="rect">
            <a:avLst/>
          </a:prstGeom>
          <a:noFill/>
          <a:ln/>
        </p:spPr>
        <p:txBody>
          <a:bodyPr wrap="square" lIns="0" tIns="0" rIns="0" bIns="0" rtlCol="0" anchor="ctr"/>
          <a:lstStyle/>
          <a:p>
            <a:pPr indent="0" marL="0">
              <a:buNone/>
            </a:pPr>
            <a:r>
              <a:rPr lang="en-US" sz="1000" b="1" spc="100" kern="0" dirty="0">
                <a:solidFill>
                  <a:srgbClr val="FFD700"/>
                </a:solidFill>
                <a:latin typeface="Calibri" pitchFamily="34" charset="0"/>
                <a:ea typeface="Calibri" pitchFamily="34" charset="-122"/>
                <a:cs typeface="Calibri" pitchFamily="34" charset="-120"/>
              </a:rPr>
              <a:t>UNLIMITED</a:t>
            </a:r>
            <a:endParaRPr lang="en-US" sz="1000" dirty="0"/>
          </a:p>
        </p:txBody>
      </p:sp>
      <p:sp>
        <p:nvSpPr>
          <p:cNvPr id="23" name="Text 21"/>
          <p:cNvSpPr/>
          <p:nvPr/>
        </p:nvSpPr>
        <p:spPr>
          <a:xfrm>
            <a:off x="2331720" y="3163824"/>
            <a:ext cx="201168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Black" pitchFamily="34" charset="0"/>
                <a:ea typeface="Arial Black" pitchFamily="34" charset="-122"/>
                <a:cs typeface="Arial Black" pitchFamily="34" charset="-120"/>
              </a:rPr>
              <a:t>£15.99 / month</a:t>
            </a:r>
            <a:endParaRPr lang="en-US" sz="1400" dirty="0"/>
          </a:p>
        </p:txBody>
      </p:sp>
      <p:sp>
        <p:nvSpPr>
          <p:cNvPr id="24" name="Text 22"/>
          <p:cNvSpPr/>
          <p:nvPr/>
        </p:nvSpPr>
        <p:spPr>
          <a:xfrm>
            <a:off x="4480560" y="3209544"/>
            <a:ext cx="1280160" cy="219456"/>
          </a:xfrm>
          <a:prstGeom prst="rect">
            <a:avLst/>
          </a:prstGeom>
          <a:noFill/>
          <a:ln/>
        </p:spPr>
        <p:txBody>
          <a:bodyPr wrap="square" lIns="0" tIns="0" rIns="0" bIns="0" rtlCol="0" anchor="ctr"/>
          <a:lstStyle/>
          <a:p>
            <a:pPr indent="0" marL="0">
              <a:buNone/>
            </a:pPr>
            <a:r>
              <a:rPr lang="en-US" sz="900" i="1" dirty="0">
                <a:solidFill>
                  <a:srgbClr val="555555"/>
                </a:solidFill>
                <a:latin typeface="Calibri" pitchFamily="34" charset="0"/>
                <a:ea typeface="Calibri" pitchFamily="34" charset="-122"/>
                <a:cs typeface="Calibri" pitchFamily="34" charset="-120"/>
              </a:rPr>
              <a:t>£191.88 / year</a:t>
            </a:r>
            <a:endParaRPr lang="en-US" sz="900" dirty="0"/>
          </a:p>
        </p:txBody>
      </p:sp>
      <p:sp>
        <p:nvSpPr>
          <p:cNvPr id="25" name="Text 23"/>
          <p:cNvSpPr/>
          <p:nvPr/>
        </p:nvSpPr>
        <p:spPr>
          <a:xfrm>
            <a:off x="5897880" y="3191256"/>
            <a:ext cx="2651760" cy="256032"/>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Unlimited activations, ad-free, all features</a:t>
            </a:r>
            <a:endParaRPr lang="en-US" sz="950" dirty="0"/>
          </a:p>
        </p:txBody>
      </p:sp>
      <p:sp>
        <p:nvSpPr>
          <p:cNvPr id="26" name="Text 24"/>
          <p:cNvSpPr/>
          <p:nvPr/>
        </p:nvSpPr>
        <p:spPr>
          <a:xfrm>
            <a:off x="548640" y="3685032"/>
            <a:ext cx="8046720" cy="246888"/>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Blended ARPU: £5.34/month  ·  55% Basic / 35% Pro / 10% Unlimited subscriber mix</a:t>
            </a:r>
            <a:endParaRPr lang="en-US" sz="1000" dirty="0"/>
          </a:p>
        </p:txBody>
      </p:sp>
      <p:sp>
        <p:nvSpPr>
          <p:cNvPr id="27" name="Shape 25"/>
          <p:cNvSpPr/>
          <p:nvPr/>
        </p:nvSpPr>
        <p:spPr>
          <a:xfrm>
            <a:off x="457200" y="4005072"/>
            <a:ext cx="2606040" cy="804672"/>
          </a:xfrm>
          <a:prstGeom prst="rect">
            <a:avLst/>
          </a:prstGeom>
          <a:solidFill>
            <a:srgbClr val="1A1A1A"/>
          </a:solidFill>
          <a:ln w="12700">
            <a:solidFill>
              <a:srgbClr val="333333"/>
            </a:solidFill>
            <a:prstDash val="solid"/>
          </a:ln>
        </p:spPr>
      </p:sp>
      <p:sp>
        <p:nvSpPr>
          <p:cNvPr id="28" name="Text 26"/>
          <p:cNvSpPr/>
          <p:nvPr/>
        </p:nvSpPr>
        <p:spPr>
          <a:xfrm>
            <a:off x="621792" y="4096512"/>
            <a:ext cx="2331720" cy="201168"/>
          </a:xfrm>
          <a:prstGeom prst="rect">
            <a:avLst/>
          </a:prstGeom>
          <a:noFill/>
          <a:ln/>
        </p:spPr>
        <p:txBody>
          <a:bodyPr wrap="square" lIns="0" tIns="0" rIns="0" bIns="0" rtlCol="0" anchor="ctr"/>
          <a:lstStyle/>
          <a:p>
            <a:pPr indent="0" marL="0">
              <a:buNone/>
            </a:pPr>
            <a:r>
              <a:rPr lang="en-US" sz="800" b="1" spc="200" kern="0" dirty="0">
                <a:solidFill>
                  <a:srgbClr val="FFD700"/>
                </a:solidFill>
                <a:latin typeface="Calibri" pitchFamily="34" charset="0"/>
                <a:ea typeface="Calibri" pitchFamily="34" charset="-122"/>
                <a:cs typeface="Calibri" pitchFamily="34" charset="-120"/>
              </a:rPr>
              <a:t>AD REVENUE</a:t>
            </a:r>
            <a:endParaRPr lang="en-US" sz="800" dirty="0"/>
          </a:p>
        </p:txBody>
      </p:sp>
      <p:sp>
        <p:nvSpPr>
          <p:cNvPr id="29" name="Text 27"/>
          <p:cNvSpPr/>
          <p:nvPr/>
        </p:nvSpPr>
        <p:spPr>
          <a:xfrm>
            <a:off x="621792" y="4325112"/>
            <a:ext cx="2331720" cy="411480"/>
          </a:xfrm>
          <a:prstGeom prst="rect">
            <a:avLst/>
          </a:prstGeom>
          <a:noFill/>
          <a:ln/>
        </p:spPr>
        <p:txBody>
          <a:bodyPr wrap="square" lIns="0" tIns="0" rIns="0" bIns="0" rtlCol="0" anchor="ctr"/>
          <a:lstStyle/>
          <a:p>
            <a:pPr indent="0" marL="0">
              <a:buNone/>
            </a:pPr>
            <a:r>
              <a:rPr lang="en-US" sz="950" dirty="0">
                <a:solidFill>
                  <a:srgbClr val="888888"/>
                </a:solidFill>
                <a:latin typeface="Calibri" pitchFamily="34" charset="0"/>
                <a:ea typeface="Calibri" pitchFamily="34" charset="-122"/>
                <a:cs typeface="Calibri" pitchFamily="34" charset="-120"/>
              </a:rPr>
              <a:t>AdMob integrated in free tier.</a:t>
            </a:r>
            <a:endParaRPr lang="en-US" sz="950" dirty="0"/>
          </a:p>
          <a:p>
            <a:pPr indent="0" marL="0">
              <a:buNone/>
            </a:pPr>
            <a:r>
              <a:rPr lang="en-US" sz="950" dirty="0">
                <a:solidFill>
                  <a:srgbClr val="888888"/>
                </a:solidFill>
                <a:latin typeface="Calibri" pitchFamily="34" charset="0"/>
                <a:ea typeface="Calibri" pitchFamily="34" charset="-122"/>
                <a:cs typeface="Calibri" pitchFamily="34" charset="-120"/>
              </a:rPr>
              <a:t>Revenue from every activation.</a:t>
            </a:r>
            <a:endParaRPr lang="en-US" sz="950" dirty="0"/>
          </a:p>
        </p:txBody>
      </p:sp>
      <p:sp>
        <p:nvSpPr>
          <p:cNvPr id="30" name="Shape 28"/>
          <p:cNvSpPr/>
          <p:nvPr/>
        </p:nvSpPr>
        <p:spPr>
          <a:xfrm>
            <a:off x="3291840" y="4005072"/>
            <a:ext cx="2606040" cy="804672"/>
          </a:xfrm>
          <a:prstGeom prst="rect">
            <a:avLst/>
          </a:prstGeom>
          <a:solidFill>
            <a:srgbClr val="1A1A1A"/>
          </a:solidFill>
          <a:ln w="12700">
            <a:solidFill>
              <a:srgbClr val="333333"/>
            </a:solidFill>
            <a:prstDash val="solid"/>
          </a:ln>
        </p:spPr>
      </p:sp>
      <p:sp>
        <p:nvSpPr>
          <p:cNvPr id="31" name="Text 29"/>
          <p:cNvSpPr/>
          <p:nvPr/>
        </p:nvSpPr>
        <p:spPr>
          <a:xfrm>
            <a:off x="3456432" y="4096512"/>
            <a:ext cx="2331720" cy="201168"/>
          </a:xfrm>
          <a:prstGeom prst="rect">
            <a:avLst/>
          </a:prstGeom>
          <a:noFill/>
          <a:ln/>
        </p:spPr>
        <p:txBody>
          <a:bodyPr wrap="square" lIns="0" tIns="0" rIns="0" bIns="0" rtlCol="0" anchor="ctr"/>
          <a:lstStyle/>
          <a:p>
            <a:pPr indent="0" marL="0">
              <a:buNone/>
            </a:pPr>
            <a:r>
              <a:rPr lang="en-US" sz="800" b="1" spc="200" kern="0" dirty="0">
                <a:solidFill>
                  <a:srgbClr val="FFD700"/>
                </a:solidFill>
                <a:latin typeface="Calibri" pitchFamily="34" charset="0"/>
                <a:ea typeface="Calibri" pitchFamily="34" charset="-122"/>
                <a:cs typeface="Calibri" pitchFamily="34" charset="-120"/>
              </a:rPr>
              <a:t>B2B FLEET ACCOUNTS</a:t>
            </a:r>
            <a:endParaRPr lang="en-US" sz="800" dirty="0"/>
          </a:p>
        </p:txBody>
      </p:sp>
      <p:sp>
        <p:nvSpPr>
          <p:cNvPr id="32" name="Text 30"/>
          <p:cNvSpPr/>
          <p:nvPr/>
        </p:nvSpPr>
        <p:spPr>
          <a:xfrm>
            <a:off x="3456432" y="4325112"/>
            <a:ext cx="2331720" cy="411480"/>
          </a:xfrm>
          <a:prstGeom prst="rect">
            <a:avLst/>
          </a:prstGeom>
          <a:noFill/>
          <a:ln/>
        </p:spPr>
        <p:txBody>
          <a:bodyPr wrap="square" lIns="0" tIns="0" rIns="0" bIns="0" rtlCol="0" anchor="ctr"/>
          <a:lstStyle/>
          <a:p>
            <a:pPr indent="0" marL="0">
              <a:buNone/>
            </a:pPr>
            <a:r>
              <a:rPr lang="en-US" sz="950" dirty="0">
                <a:solidFill>
                  <a:srgbClr val="888888"/>
                </a:solidFill>
                <a:latin typeface="Calibri" pitchFamily="34" charset="0"/>
                <a:ea typeface="Calibri" pitchFamily="34" charset="-122"/>
                <a:cs typeface="Calibri" pitchFamily="34" charset="-120"/>
              </a:rPr>
              <a:t>£20–50/month per company</a:t>
            </a:r>
            <a:endParaRPr lang="en-US" sz="950" dirty="0"/>
          </a:p>
          <a:p>
            <a:pPr indent="0" marL="0">
              <a:buNone/>
            </a:pPr>
            <a:r>
              <a:rPr lang="en-US" sz="950" dirty="0">
                <a:solidFill>
                  <a:srgbClr val="888888"/>
                </a:solidFill>
                <a:latin typeface="Calibri" pitchFamily="34" charset="0"/>
                <a:ea typeface="Calibri" pitchFamily="34" charset="-122"/>
                <a:cs typeface="Calibri" pitchFamily="34" charset="-120"/>
              </a:rPr>
              <a:t>with 10+ employees.</a:t>
            </a:r>
            <a:endParaRPr lang="en-US" sz="950" dirty="0"/>
          </a:p>
        </p:txBody>
      </p:sp>
      <p:sp>
        <p:nvSpPr>
          <p:cNvPr id="33" name="Shape 31"/>
          <p:cNvSpPr/>
          <p:nvPr/>
        </p:nvSpPr>
        <p:spPr>
          <a:xfrm>
            <a:off x="6126480" y="4005072"/>
            <a:ext cx="2606040" cy="804672"/>
          </a:xfrm>
          <a:prstGeom prst="rect">
            <a:avLst/>
          </a:prstGeom>
          <a:solidFill>
            <a:srgbClr val="1A1A1A"/>
          </a:solidFill>
          <a:ln w="12700">
            <a:solidFill>
              <a:srgbClr val="333333"/>
            </a:solidFill>
            <a:prstDash val="solid"/>
          </a:ln>
        </p:spPr>
      </p:sp>
      <p:sp>
        <p:nvSpPr>
          <p:cNvPr id="34" name="Text 32"/>
          <p:cNvSpPr/>
          <p:nvPr/>
        </p:nvSpPr>
        <p:spPr>
          <a:xfrm>
            <a:off x="6291072" y="4096512"/>
            <a:ext cx="2331720" cy="201168"/>
          </a:xfrm>
          <a:prstGeom prst="rect">
            <a:avLst/>
          </a:prstGeom>
          <a:noFill/>
          <a:ln/>
        </p:spPr>
        <p:txBody>
          <a:bodyPr wrap="square" lIns="0" tIns="0" rIns="0" bIns="0" rtlCol="0" anchor="ctr"/>
          <a:lstStyle/>
          <a:p>
            <a:pPr indent="0" marL="0">
              <a:buNone/>
            </a:pPr>
            <a:r>
              <a:rPr lang="en-US" sz="800" b="1" spc="200" kern="0" dirty="0">
                <a:solidFill>
                  <a:srgbClr val="FFD700"/>
                </a:solidFill>
                <a:latin typeface="Calibri" pitchFamily="34" charset="0"/>
                <a:ea typeface="Calibri" pitchFamily="34" charset="-122"/>
                <a:cs typeface="Calibri" pitchFamily="34" charset="-120"/>
              </a:rPr>
              <a:t>PEER-TO-PEER TIPPING</a:t>
            </a:r>
            <a:endParaRPr lang="en-US" sz="800" dirty="0"/>
          </a:p>
        </p:txBody>
      </p:sp>
      <p:sp>
        <p:nvSpPr>
          <p:cNvPr id="35" name="Text 33"/>
          <p:cNvSpPr/>
          <p:nvPr/>
        </p:nvSpPr>
        <p:spPr>
          <a:xfrm>
            <a:off x="6291072" y="4325112"/>
            <a:ext cx="2331720" cy="411480"/>
          </a:xfrm>
          <a:prstGeom prst="rect">
            <a:avLst/>
          </a:prstGeom>
          <a:noFill/>
          <a:ln/>
        </p:spPr>
        <p:txBody>
          <a:bodyPr wrap="square" lIns="0" tIns="0" rIns="0" bIns="0" rtlCol="0" anchor="ctr"/>
          <a:lstStyle/>
          <a:p>
            <a:pPr indent="0" marL="0">
              <a:buNone/>
            </a:pPr>
            <a:r>
              <a:rPr lang="en-US" sz="950" dirty="0">
                <a:solidFill>
                  <a:srgbClr val="888888"/>
                </a:solidFill>
                <a:latin typeface="Calibri" pitchFamily="34" charset="0"/>
                <a:ea typeface="Calibri" pitchFamily="34" charset="-122"/>
                <a:cs typeface="Calibri" pitchFamily="34" charset="-120"/>
              </a:rPr>
              <a:t>"Buy a Coffee" between</a:t>
            </a:r>
            <a:endParaRPr lang="en-US" sz="950" dirty="0"/>
          </a:p>
          <a:p>
            <a:pPr indent="0" marL="0">
              <a:buNone/>
            </a:pPr>
            <a:r>
              <a:rPr lang="en-US" sz="950" dirty="0">
                <a:solidFill>
                  <a:srgbClr val="888888"/>
                </a:solidFill>
                <a:latin typeface="Calibri" pitchFamily="34" charset="0"/>
                <a:ea typeface="Calibri" pitchFamily="34" charset="-122"/>
                <a:cs typeface="Calibri" pitchFamily="34" charset="-120"/>
              </a:rPr>
              <a:t>drivers — platform takes a cut.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D700"/>
          </a:solidFill>
          <a:ln w="12700">
            <a:solidFill>
              <a:srgbClr val="FFD700"/>
            </a:solidFill>
            <a:prstDash val="solid"/>
          </a:ln>
        </p:spPr>
      </p:sp>
      <p:sp>
        <p:nvSpPr>
          <p:cNvPr id="3" name="Shape 1"/>
          <p:cNvSpPr/>
          <p:nvPr/>
        </p:nvSpPr>
        <p:spPr>
          <a:xfrm>
            <a:off x="0" y="5079492"/>
            <a:ext cx="9144000" cy="64008"/>
          </a:xfrm>
          <a:prstGeom prst="rect">
            <a:avLst/>
          </a:prstGeom>
          <a:solidFill>
            <a:srgbClr val="FFD700"/>
          </a:solidFill>
          <a:ln w="12700">
            <a:solidFill>
              <a:srgbClr val="FFD700"/>
            </a:solidFill>
            <a:prstDash val="solid"/>
          </a:ln>
        </p:spPr>
      </p:sp>
      <p:sp>
        <p:nvSpPr>
          <p:cNvPr id="4" name="Text 2"/>
          <p:cNvSpPr/>
          <p:nvPr/>
        </p:nvSpPr>
        <p:spPr>
          <a:xfrm>
            <a:off x="4572000" y="201168"/>
            <a:ext cx="4206240" cy="256032"/>
          </a:xfrm>
          <a:prstGeom prst="rect">
            <a:avLst/>
          </a:prstGeom>
          <a:noFill/>
          <a:ln/>
        </p:spPr>
        <p:txBody>
          <a:bodyPr wrap="square" lIns="0" tIns="0" rIns="0" bIns="0" rtlCol="0" anchor="ctr"/>
          <a:lstStyle/>
          <a:p>
            <a:pPr algn="r" indent="0" marL="0">
              <a:buNone/>
            </a:pPr>
            <a:r>
              <a:rPr lang="en-US" sz="900" b="1" spc="400" kern="0" dirty="0">
                <a:solidFill>
                  <a:srgbClr val="FFD700"/>
                </a:solidFill>
                <a:latin typeface="Calibri" pitchFamily="34" charset="0"/>
                <a:ea typeface="Calibri" pitchFamily="34" charset="-122"/>
                <a:cs typeface="Calibri" pitchFamily="34" charset="-120"/>
              </a:rPr>
              <a:t>REVENUE PROJECTIONS</a:t>
            </a:r>
            <a:endParaRPr lang="en-US" sz="900" dirty="0"/>
          </a:p>
        </p:txBody>
      </p:sp>
      <p:sp>
        <p:nvSpPr>
          <p:cNvPr id="5" name="Text 3"/>
          <p:cNvSpPr/>
          <p:nvPr/>
        </p:nvSpPr>
        <p:spPr>
          <a:xfrm>
            <a:off x="548640" y="384048"/>
            <a:ext cx="8046720" cy="86868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Three-year trajectory — London-first, then UK-wide, and beyond!</a:t>
            </a:r>
            <a:endParaRPr lang="en-US" sz="2600" dirty="0"/>
          </a:p>
        </p:txBody>
      </p:sp>
      <p:graphicFrame>
        <p:nvGraphicFramePr>
          <p:cNvPr id="6" name="Chart 0" descr=""/>
          <p:cNvGraphicFramePr/>
          <p:nvPr/>
        </p:nvGraphicFramePr>
        <p:xfrm>
          <a:off x="457200" y="1389888"/>
          <a:ext cx="5120640" cy="30175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760720" y="1389888"/>
            <a:ext cx="2926080" cy="91440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8" name="Shape 5"/>
          <p:cNvSpPr/>
          <p:nvPr/>
        </p:nvSpPr>
        <p:spPr>
          <a:xfrm>
            <a:off x="5760720" y="1389888"/>
            <a:ext cx="50292" cy="914400"/>
          </a:xfrm>
          <a:prstGeom prst="rect">
            <a:avLst/>
          </a:prstGeom>
          <a:solidFill>
            <a:srgbClr val="FFD700"/>
          </a:solidFill>
          <a:ln w="12700">
            <a:solidFill>
              <a:srgbClr val="FFD700"/>
            </a:solidFill>
            <a:prstDash val="solid"/>
          </a:ln>
        </p:spPr>
      </p:sp>
      <p:sp>
        <p:nvSpPr>
          <p:cNvPr id="9" name="Text 6"/>
          <p:cNvSpPr/>
          <p:nvPr/>
        </p:nvSpPr>
        <p:spPr>
          <a:xfrm>
            <a:off x="5907024" y="1463040"/>
            <a:ext cx="2651760" cy="201168"/>
          </a:xfrm>
          <a:prstGeom prst="rect">
            <a:avLst/>
          </a:prstGeom>
          <a:noFill/>
          <a:ln/>
        </p:spPr>
        <p:txBody>
          <a:bodyPr wrap="square" lIns="0" tIns="0" rIns="0" bIns="0" rtlCol="0" anchor="ctr"/>
          <a:lstStyle/>
          <a:p>
            <a:pPr indent="0" marL="0">
              <a:buNone/>
            </a:pPr>
            <a:r>
              <a:rPr lang="en-US" sz="900" b="1" spc="200" kern="0" dirty="0">
                <a:solidFill>
                  <a:srgbClr val="FFD700"/>
                </a:solidFill>
                <a:latin typeface="Calibri" pitchFamily="34" charset="0"/>
                <a:ea typeface="Calibri" pitchFamily="34" charset="-122"/>
                <a:cs typeface="Calibri" pitchFamily="34" charset="-120"/>
              </a:rPr>
              <a:t>YEAR 1</a:t>
            </a:r>
            <a:endParaRPr lang="en-US" sz="900" dirty="0"/>
          </a:p>
        </p:txBody>
      </p:sp>
      <p:sp>
        <p:nvSpPr>
          <p:cNvPr id="10" name="Text 7"/>
          <p:cNvSpPr/>
          <p:nvPr/>
        </p:nvSpPr>
        <p:spPr>
          <a:xfrm>
            <a:off x="5907024" y="1645920"/>
            <a:ext cx="2651760" cy="320040"/>
          </a:xfrm>
          <a:prstGeom prst="rect">
            <a:avLst/>
          </a:prstGeom>
          <a:noFill/>
          <a:ln/>
        </p:spPr>
        <p:txBody>
          <a:bodyPr wrap="square" lIns="0" tIns="0" rIns="0" bIns="0"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£320K–£965K</a:t>
            </a:r>
            <a:endParaRPr lang="en-US" sz="2000" dirty="0"/>
          </a:p>
        </p:txBody>
      </p:sp>
      <p:sp>
        <p:nvSpPr>
          <p:cNvPr id="11" name="Text 8"/>
          <p:cNvSpPr/>
          <p:nvPr/>
        </p:nvSpPr>
        <p:spPr>
          <a:xfrm>
            <a:off x="5907024" y="1956816"/>
            <a:ext cx="2651760" cy="164592"/>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5K–15K subscribers</a:t>
            </a:r>
            <a:endParaRPr lang="en-US" sz="900" dirty="0"/>
          </a:p>
        </p:txBody>
      </p:sp>
      <p:sp>
        <p:nvSpPr>
          <p:cNvPr id="12" name="Text 9"/>
          <p:cNvSpPr/>
          <p:nvPr/>
        </p:nvSpPr>
        <p:spPr>
          <a:xfrm>
            <a:off x="5907024" y="2121408"/>
            <a:ext cx="2651760" cy="146304"/>
          </a:xfrm>
          <a:prstGeom prst="rect">
            <a:avLst/>
          </a:prstGeom>
          <a:noFill/>
          <a:ln/>
        </p:spPr>
        <p:txBody>
          <a:bodyPr wrap="square" lIns="0" tIns="0" rIns="0" bIns="0" rtlCol="0" anchor="ctr"/>
          <a:lstStyle/>
          <a:p>
            <a:pPr indent="0" marL="0">
              <a:buNone/>
            </a:pPr>
            <a:r>
              <a:rPr lang="en-US" sz="700" i="1" dirty="0">
                <a:solidFill>
                  <a:srgbClr val="555555"/>
                </a:solidFill>
                <a:latin typeface="Calibri" pitchFamily="34" charset="0"/>
                <a:ea typeface="Calibri" pitchFamily="34" charset="-122"/>
                <a:cs typeface="Calibri" pitchFamily="34" charset="-120"/>
              </a:rPr>
              <a:t>London launch; tradespeople, NHS &amp; delivery drivers simultaneously; AdMob revenue</a:t>
            </a:r>
            <a:endParaRPr lang="en-US" sz="700" dirty="0"/>
          </a:p>
        </p:txBody>
      </p:sp>
      <p:sp>
        <p:nvSpPr>
          <p:cNvPr id="13" name="Shape 10"/>
          <p:cNvSpPr/>
          <p:nvPr/>
        </p:nvSpPr>
        <p:spPr>
          <a:xfrm>
            <a:off x="5760720" y="2395728"/>
            <a:ext cx="2926080" cy="91440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14" name="Shape 11"/>
          <p:cNvSpPr/>
          <p:nvPr/>
        </p:nvSpPr>
        <p:spPr>
          <a:xfrm>
            <a:off x="5760720" y="2395728"/>
            <a:ext cx="50292" cy="914400"/>
          </a:xfrm>
          <a:prstGeom prst="rect">
            <a:avLst/>
          </a:prstGeom>
          <a:solidFill>
            <a:srgbClr val="FFD700"/>
          </a:solidFill>
          <a:ln w="12700">
            <a:solidFill>
              <a:srgbClr val="FFD700"/>
            </a:solidFill>
            <a:prstDash val="solid"/>
          </a:ln>
        </p:spPr>
      </p:sp>
      <p:sp>
        <p:nvSpPr>
          <p:cNvPr id="15" name="Text 12"/>
          <p:cNvSpPr/>
          <p:nvPr/>
        </p:nvSpPr>
        <p:spPr>
          <a:xfrm>
            <a:off x="5907024" y="2468880"/>
            <a:ext cx="2651760" cy="201168"/>
          </a:xfrm>
          <a:prstGeom prst="rect">
            <a:avLst/>
          </a:prstGeom>
          <a:noFill/>
          <a:ln/>
        </p:spPr>
        <p:txBody>
          <a:bodyPr wrap="square" lIns="0" tIns="0" rIns="0" bIns="0" rtlCol="0" anchor="ctr"/>
          <a:lstStyle/>
          <a:p>
            <a:pPr indent="0" marL="0">
              <a:buNone/>
            </a:pPr>
            <a:r>
              <a:rPr lang="en-US" sz="900" b="1" spc="200" kern="0" dirty="0">
                <a:solidFill>
                  <a:srgbClr val="FFD700"/>
                </a:solidFill>
                <a:latin typeface="Calibri" pitchFamily="34" charset="0"/>
                <a:ea typeface="Calibri" pitchFamily="34" charset="-122"/>
                <a:cs typeface="Calibri" pitchFamily="34" charset="-120"/>
              </a:rPr>
              <a:t>YEAR 2</a:t>
            </a:r>
            <a:endParaRPr lang="en-US" sz="900" dirty="0"/>
          </a:p>
        </p:txBody>
      </p:sp>
      <p:sp>
        <p:nvSpPr>
          <p:cNvPr id="16" name="Text 13"/>
          <p:cNvSpPr/>
          <p:nvPr/>
        </p:nvSpPr>
        <p:spPr>
          <a:xfrm>
            <a:off x="5907024" y="2651760"/>
            <a:ext cx="2651760" cy="320040"/>
          </a:xfrm>
          <a:prstGeom prst="rect">
            <a:avLst/>
          </a:prstGeom>
          <a:noFill/>
          <a:ln/>
        </p:spPr>
        <p:txBody>
          <a:bodyPr wrap="square" lIns="0" tIns="0" rIns="0" bIns="0"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£3.2M–£9.6M</a:t>
            </a:r>
            <a:endParaRPr lang="en-US" sz="2000" dirty="0"/>
          </a:p>
        </p:txBody>
      </p:sp>
      <p:sp>
        <p:nvSpPr>
          <p:cNvPr id="17" name="Text 14"/>
          <p:cNvSpPr/>
          <p:nvPr/>
        </p:nvSpPr>
        <p:spPr>
          <a:xfrm>
            <a:off x="5907024" y="2962656"/>
            <a:ext cx="2651760" cy="164592"/>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50K–150K subscribers</a:t>
            </a:r>
            <a:endParaRPr lang="en-US" sz="900" dirty="0"/>
          </a:p>
        </p:txBody>
      </p:sp>
      <p:sp>
        <p:nvSpPr>
          <p:cNvPr id="18" name="Text 15"/>
          <p:cNvSpPr/>
          <p:nvPr/>
        </p:nvSpPr>
        <p:spPr>
          <a:xfrm>
            <a:off x="5907024" y="3127248"/>
            <a:ext cx="2651760" cy="146304"/>
          </a:xfrm>
          <a:prstGeom prst="rect">
            <a:avLst/>
          </a:prstGeom>
          <a:noFill/>
          <a:ln/>
        </p:spPr>
        <p:txBody>
          <a:bodyPr wrap="square" lIns="0" tIns="0" rIns="0" bIns="0" rtlCol="0" anchor="ctr"/>
          <a:lstStyle/>
          <a:p>
            <a:pPr indent="0" marL="0">
              <a:buNone/>
            </a:pPr>
            <a:r>
              <a:rPr lang="en-US" sz="700" i="1" dirty="0">
                <a:solidFill>
                  <a:srgbClr val="555555"/>
                </a:solidFill>
                <a:latin typeface="Calibri" pitchFamily="34" charset="0"/>
                <a:ea typeface="Calibri" pitchFamily="34" charset="-122"/>
                <a:cs typeface="Calibri" pitchFamily="34" charset="-120"/>
              </a:rPr>
              <a:t>Major UK cities; network flywheel accelerates; B2B fleet pilot</a:t>
            </a:r>
            <a:endParaRPr lang="en-US" sz="700" dirty="0"/>
          </a:p>
        </p:txBody>
      </p:sp>
      <p:sp>
        <p:nvSpPr>
          <p:cNvPr id="19" name="Shape 16"/>
          <p:cNvSpPr/>
          <p:nvPr/>
        </p:nvSpPr>
        <p:spPr>
          <a:xfrm>
            <a:off x="5760720" y="3401568"/>
            <a:ext cx="2926080" cy="91440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20" name="Shape 17"/>
          <p:cNvSpPr/>
          <p:nvPr/>
        </p:nvSpPr>
        <p:spPr>
          <a:xfrm>
            <a:off x="5760720" y="3401568"/>
            <a:ext cx="50292" cy="914400"/>
          </a:xfrm>
          <a:prstGeom prst="rect">
            <a:avLst/>
          </a:prstGeom>
          <a:solidFill>
            <a:srgbClr val="FFD700"/>
          </a:solidFill>
          <a:ln w="12700">
            <a:solidFill>
              <a:srgbClr val="FFD700"/>
            </a:solidFill>
            <a:prstDash val="solid"/>
          </a:ln>
        </p:spPr>
      </p:sp>
      <p:sp>
        <p:nvSpPr>
          <p:cNvPr id="21" name="Text 18"/>
          <p:cNvSpPr/>
          <p:nvPr/>
        </p:nvSpPr>
        <p:spPr>
          <a:xfrm>
            <a:off x="5907024" y="3474720"/>
            <a:ext cx="2651760" cy="201168"/>
          </a:xfrm>
          <a:prstGeom prst="rect">
            <a:avLst/>
          </a:prstGeom>
          <a:noFill/>
          <a:ln/>
        </p:spPr>
        <p:txBody>
          <a:bodyPr wrap="square" lIns="0" tIns="0" rIns="0" bIns="0" rtlCol="0" anchor="ctr"/>
          <a:lstStyle/>
          <a:p>
            <a:pPr indent="0" marL="0">
              <a:buNone/>
            </a:pPr>
            <a:r>
              <a:rPr lang="en-US" sz="900" b="1" spc="200" kern="0" dirty="0">
                <a:solidFill>
                  <a:srgbClr val="FFD700"/>
                </a:solidFill>
                <a:latin typeface="Calibri" pitchFamily="34" charset="0"/>
                <a:ea typeface="Calibri" pitchFamily="34" charset="-122"/>
                <a:cs typeface="Calibri" pitchFamily="34" charset="-120"/>
              </a:rPr>
              <a:t>YEAR 3</a:t>
            </a:r>
            <a:endParaRPr lang="en-US" sz="900" dirty="0"/>
          </a:p>
        </p:txBody>
      </p:sp>
      <p:sp>
        <p:nvSpPr>
          <p:cNvPr id="22" name="Text 19"/>
          <p:cNvSpPr/>
          <p:nvPr/>
        </p:nvSpPr>
        <p:spPr>
          <a:xfrm>
            <a:off x="5907024" y="3657600"/>
            <a:ext cx="2651760" cy="320040"/>
          </a:xfrm>
          <a:prstGeom prst="rect">
            <a:avLst/>
          </a:prstGeom>
          <a:noFill/>
          <a:ln/>
        </p:spPr>
        <p:txBody>
          <a:bodyPr wrap="square" lIns="0" tIns="0" rIns="0" bIns="0"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£19.3M+</a:t>
            </a:r>
            <a:endParaRPr lang="en-US" sz="2000" dirty="0"/>
          </a:p>
        </p:txBody>
      </p:sp>
      <p:sp>
        <p:nvSpPr>
          <p:cNvPr id="23" name="Text 20"/>
          <p:cNvSpPr/>
          <p:nvPr/>
        </p:nvSpPr>
        <p:spPr>
          <a:xfrm>
            <a:off x="5907024" y="3968496"/>
            <a:ext cx="2651760" cy="164592"/>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300K+ subscribers</a:t>
            </a:r>
            <a:endParaRPr lang="en-US" sz="900" dirty="0"/>
          </a:p>
        </p:txBody>
      </p:sp>
      <p:sp>
        <p:nvSpPr>
          <p:cNvPr id="24" name="Text 21"/>
          <p:cNvSpPr/>
          <p:nvPr/>
        </p:nvSpPr>
        <p:spPr>
          <a:xfrm>
            <a:off x="5907024" y="4133088"/>
            <a:ext cx="2651760" cy="146304"/>
          </a:xfrm>
          <a:prstGeom prst="rect">
            <a:avLst/>
          </a:prstGeom>
          <a:noFill/>
          <a:ln/>
        </p:spPr>
        <p:txBody>
          <a:bodyPr wrap="square" lIns="0" tIns="0" rIns="0" bIns="0" rtlCol="0" anchor="ctr"/>
          <a:lstStyle/>
          <a:p>
            <a:pPr indent="0" marL="0">
              <a:buNone/>
            </a:pPr>
            <a:r>
              <a:rPr lang="en-US" sz="700" i="1" dirty="0">
                <a:solidFill>
                  <a:srgbClr val="555555"/>
                </a:solidFill>
                <a:latin typeface="Calibri" pitchFamily="34" charset="0"/>
                <a:ea typeface="Calibri" pitchFamily="34" charset="-122"/>
                <a:cs typeface="Calibri" pitchFamily="34" charset="-120"/>
              </a:rPr>
              <a:t>10% core market; B2B live; general public adoption; international scoping</a:t>
            </a:r>
            <a:endParaRPr lang="en-US" sz="700" dirty="0"/>
          </a:p>
        </p:txBody>
      </p:sp>
      <p:sp>
        <p:nvSpPr>
          <p:cNvPr id="25" name="Text 22"/>
          <p:cNvSpPr/>
          <p:nvPr/>
        </p:nvSpPr>
        <p:spPr>
          <a:xfrm>
            <a:off x="457200" y="4864608"/>
            <a:ext cx="8229600" cy="182880"/>
          </a:xfrm>
          <a:prstGeom prst="rect">
            <a:avLst/>
          </a:prstGeom>
          <a:noFill/>
          <a:ln/>
        </p:spPr>
        <p:txBody>
          <a:bodyPr wrap="square" lIns="0" tIns="0" rIns="0" bIns="0" rtlCol="0" anchor="ctr"/>
          <a:lstStyle/>
          <a:p>
            <a:pPr indent="0" marL="0">
              <a:buNone/>
            </a:pPr>
            <a:r>
              <a:rPr lang="en-US" sz="750" i="1" dirty="0">
                <a:solidFill>
                  <a:srgbClr val="555555"/>
                </a:solidFill>
                <a:latin typeface="Calibri" pitchFamily="34" charset="0"/>
                <a:ea typeface="Calibri" pitchFamily="34" charset="-122"/>
                <a:cs typeface="Calibri" pitchFamily="34" charset="-120"/>
              </a:rPr>
              <a:t>Conservative projections from 3M core professional subscribers only (tradespeople, NHS &amp; delivery drivers). General public, B2B fleet, and ad revenue represent additional upside not modelled here.</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D700"/>
          </a:solidFill>
          <a:ln w="12700">
            <a:solidFill>
              <a:srgbClr val="FFD700"/>
            </a:solidFill>
            <a:prstDash val="solid"/>
          </a:ln>
        </p:spPr>
      </p:sp>
      <p:sp>
        <p:nvSpPr>
          <p:cNvPr id="3" name="Shape 1"/>
          <p:cNvSpPr/>
          <p:nvPr/>
        </p:nvSpPr>
        <p:spPr>
          <a:xfrm>
            <a:off x="0" y="5079492"/>
            <a:ext cx="9144000" cy="64008"/>
          </a:xfrm>
          <a:prstGeom prst="rect">
            <a:avLst/>
          </a:prstGeom>
          <a:solidFill>
            <a:srgbClr val="FFD700"/>
          </a:solidFill>
          <a:ln w="12700">
            <a:solidFill>
              <a:srgbClr val="FFD700"/>
            </a:solidFill>
            <a:prstDash val="solid"/>
          </a:ln>
        </p:spPr>
      </p:sp>
      <p:sp>
        <p:nvSpPr>
          <p:cNvPr id="4" name="Text 2"/>
          <p:cNvSpPr/>
          <p:nvPr/>
        </p:nvSpPr>
        <p:spPr>
          <a:xfrm>
            <a:off x="4572000" y="201168"/>
            <a:ext cx="4206240" cy="256032"/>
          </a:xfrm>
          <a:prstGeom prst="rect">
            <a:avLst/>
          </a:prstGeom>
          <a:noFill/>
          <a:ln/>
        </p:spPr>
        <p:txBody>
          <a:bodyPr wrap="square" lIns="0" tIns="0" rIns="0" bIns="0" rtlCol="0" anchor="ctr"/>
          <a:lstStyle/>
          <a:p>
            <a:pPr algn="r" indent="0" marL="0">
              <a:buNone/>
            </a:pPr>
            <a:r>
              <a:rPr lang="en-US" sz="900" b="1" spc="400" kern="0" dirty="0">
                <a:solidFill>
                  <a:srgbClr val="FFD700"/>
                </a:solidFill>
                <a:latin typeface="Calibri" pitchFamily="34" charset="0"/>
                <a:ea typeface="Calibri" pitchFamily="34" charset="-122"/>
                <a:cs typeface="Calibri" pitchFamily="34" charset="-120"/>
              </a:rPr>
              <a:t>PRODUCT &amp; TRACTION</a:t>
            </a:r>
            <a:endParaRPr lang="en-US" sz="900" dirty="0"/>
          </a:p>
        </p:txBody>
      </p:sp>
      <p:sp>
        <p:nvSpPr>
          <p:cNvPr id="5" name="Text 3"/>
          <p:cNvSpPr/>
          <p:nvPr/>
        </p:nvSpPr>
        <p:spPr>
          <a:xfrm>
            <a:off x="548640" y="347472"/>
            <a:ext cx="8046720" cy="86868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Working prototype. Live on iOS &amp; Android. Ready to scale.</a:t>
            </a:r>
            <a:endParaRPr lang="en-US" sz="2600" dirty="0"/>
          </a:p>
        </p:txBody>
      </p:sp>
      <p:sp>
        <p:nvSpPr>
          <p:cNvPr id="6" name="Shape 4"/>
          <p:cNvSpPr/>
          <p:nvPr/>
        </p:nvSpPr>
        <p:spPr>
          <a:xfrm>
            <a:off x="457200" y="1353312"/>
            <a:ext cx="4023360" cy="86868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7" name="Shape 5"/>
          <p:cNvSpPr/>
          <p:nvPr/>
        </p:nvSpPr>
        <p:spPr>
          <a:xfrm>
            <a:off x="621792" y="1613916"/>
            <a:ext cx="347472" cy="347472"/>
          </a:xfrm>
          <a:prstGeom prst="ellipse">
            <a:avLst/>
          </a:prstGeom>
          <a:solidFill>
            <a:srgbClr val="001A00"/>
          </a:solidFill>
          <a:ln w="12700">
            <a:solidFill>
              <a:srgbClr val="00C853"/>
            </a:solidFill>
            <a:prstDash val="solid"/>
          </a:ln>
        </p:spPr>
      </p:sp>
      <p:sp>
        <p:nvSpPr>
          <p:cNvPr id="8" name="Text 6"/>
          <p:cNvSpPr/>
          <p:nvPr/>
        </p:nvSpPr>
        <p:spPr>
          <a:xfrm>
            <a:off x="621792" y="1623060"/>
            <a:ext cx="347472" cy="329184"/>
          </a:xfrm>
          <a:prstGeom prst="rect">
            <a:avLst/>
          </a:prstGeom>
          <a:noFill/>
          <a:ln/>
        </p:spPr>
        <p:txBody>
          <a:bodyPr wrap="square" lIns="0" tIns="0" rIns="0" bIns="0" rtlCol="0" anchor="ctr"/>
          <a:lstStyle/>
          <a:p>
            <a:pPr algn="ctr" indent="0" marL="0">
              <a:buNone/>
            </a:pPr>
            <a:r>
              <a:rPr lang="en-US" sz="1200" b="1" dirty="0">
                <a:solidFill>
                  <a:srgbClr val="00C853"/>
                </a:solidFill>
                <a:latin typeface="Arial Black" pitchFamily="34" charset="0"/>
                <a:ea typeface="Arial Black" pitchFamily="34" charset="-122"/>
                <a:cs typeface="Arial Black" pitchFamily="34" charset="-120"/>
              </a:rPr>
              <a:t>✓</a:t>
            </a:r>
            <a:endParaRPr lang="en-US" sz="1200" dirty="0"/>
          </a:p>
        </p:txBody>
      </p:sp>
      <p:sp>
        <p:nvSpPr>
          <p:cNvPr id="9" name="Text 7"/>
          <p:cNvSpPr/>
          <p:nvPr/>
        </p:nvSpPr>
        <p:spPr>
          <a:xfrm>
            <a:off x="1097280" y="1444752"/>
            <a:ext cx="324612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React Native / Expo App Built</a:t>
            </a:r>
            <a:endParaRPr lang="en-US" sz="1050" dirty="0"/>
          </a:p>
        </p:txBody>
      </p:sp>
      <p:sp>
        <p:nvSpPr>
          <p:cNvPr id="10" name="Text 8"/>
          <p:cNvSpPr/>
          <p:nvPr/>
        </p:nvSpPr>
        <p:spPr>
          <a:xfrm>
            <a:off x="1097280" y="1682496"/>
            <a:ext cx="3246120" cy="475488"/>
          </a:xfrm>
          <a:prstGeom prst="rect">
            <a:avLst/>
          </a:prstGeom>
          <a:noFill/>
          <a:ln/>
        </p:spPr>
        <p:txBody>
          <a:bodyPr wrap="square" lIns="0" tIns="0" rIns="0" bIns="0" rtlCol="0" anchor="t"/>
          <a:lstStyle/>
          <a:p>
            <a:pPr indent="0" marL="0">
              <a:buNone/>
            </a:pPr>
            <a:r>
              <a:rPr lang="en-US" sz="950" dirty="0">
                <a:solidFill>
                  <a:srgbClr val="888888"/>
                </a:solidFill>
                <a:latin typeface="Calibri" pitchFamily="34" charset="0"/>
                <a:ea typeface="Calibri" pitchFamily="34" charset="-122"/>
                <a:cs typeface="Calibri" pitchFamily="34" charset="-120"/>
              </a:rPr>
              <a:t>Cross-platform iOS &amp; Android app with real-time warden alerts, interactive map, community feed, and push notifications.</a:t>
            </a:r>
            <a:endParaRPr lang="en-US" sz="950" dirty="0"/>
          </a:p>
        </p:txBody>
      </p:sp>
      <p:sp>
        <p:nvSpPr>
          <p:cNvPr id="11" name="Shape 9"/>
          <p:cNvSpPr/>
          <p:nvPr/>
        </p:nvSpPr>
        <p:spPr>
          <a:xfrm>
            <a:off x="4846320" y="1353312"/>
            <a:ext cx="4023360" cy="86868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12" name="Shape 10"/>
          <p:cNvSpPr/>
          <p:nvPr/>
        </p:nvSpPr>
        <p:spPr>
          <a:xfrm>
            <a:off x="5010912" y="1613916"/>
            <a:ext cx="347472" cy="347472"/>
          </a:xfrm>
          <a:prstGeom prst="ellipse">
            <a:avLst/>
          </a:prstGeom>
          <a:solidFill>
            <a:srgbClr val="001A00"/>
          </a:solidFill>
          <a:ln w="12700">
            <a:solidFill>
              <a:srgbClr val="00C853"/>
            </a:solidFill>
            <a:prstDash val="solid"/>
          </a:ln>
        </p:spPr>
      </p:sp>
      <p:sp>
        <p:nvSpPr>
          <p:cNvPr id="13" name="Text 11"/>
          <p:cNvSpPr/>
          <p:nvPr/>
        </p:nvSpPr>
        <p:spPr>
          <a:xfrm>
            <a:off x="5010912" y="1623060"/>
            <a:ext cx="347472" cy="329184"/>
          </a:xfrm>
          <a:prstGeom prst="rect">
            <a:avLst/>
          </a:prstGeom>
          <a:noFill/>
          <a:ln/>
        </p:spPr>
        <p:txBody>
          <a:bodyPr wrap="square" lIns="0" tIns="0" rIns="0" bIns="0" rtlCol="0" anchor="ctr"/>
          <a:lstStyle/>
          <a:p>
            <a:pPr algn="ctr" indent="0" marL="0">
              <a:buNone/>
            </a:pPr>
            <a:r>
              <a:rPr lang="en-US" sz="1200" b="1" dirty="0">
                <a:solidFill>
                  <a:srgbClr val="00C853"/>
                </a:solidFill>
                <a:latin typeface="Arial Black" pitchFamily="34" charset="0"/>
                <a:ea typeface="Arial Black" pitchFamily="34" charset="-122"/>
                <a:cs typeface="Arial Black" pitchFamily="34" charset="-120"/>
              </a:rPr>
              <a:t>✓</a:t>
            </a:r>
            <a:endParaRPr lang="en-US" sz="1200" dirty="0"/>
          </a:p>
        </p:txBody>
      </p:sp>
      <p:sp>
        <p:nvSpPr>
          <p:cNvPr id="14" name="Text 12"/>
          <p:cNvSpPr/>
          <p:nvPr/>
        </p:nvSpPr>
        <p:spPr>
          <a:xfrm>
            <a:off x="5486400" y="1444752"/>
            <a:ext cx="324612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Supabase Backend Live</a:t>
            </a:r>
            <a:endParaRPr lang="en-US" sz="1050" dirty="0"/>
          </a:p>
        </p:txBody>
      </p:sp>
      <p:sp>
        <p:nvSpPr>
          <p:cNvPr id="15" name="Text 13"/>
          <p:cNvSpPr/>
          <p:nvPr/>
        </p:nvSpPr>
        <p:spPr>
          <a:xfrm>
            <a:off x="5486400" y="1682496"/>
            <a:ext cx="3246120" cy="475488"/>
          </a:xfrm>
          <a:prstGeom prst="rect">
            <a:avLst/>
          </a:prstGeom>
          <a:noFill/>
          <a:ln/>
        </p:spPr>
        <p:txBody>
          <a:bodyPr wrap="square" lIns="0" tIns="0" rIns="0" bIns="0" rtlCol="0" anchor="t"/>
          <a:lstStyle/>
          <a:p>
            <a:pPr indent="0" marL="0">
              <a:buNone/>
            </a:pPr>
            <a:r>
              <a:rPr lang="en-US" sz="950" dirty="0">
                <a:solidFill>
                  <a:srgbClr val="888888"/>
                </a:solidFill>
                <a:latin typeface="Calibri" pitchFamily="34" charset="0"/>
                <a:ea typeface="Calibri" pitchFamily="34" charset="-122"/>
                <a:cs typeface="Calibri" pitchFamily="34" charset="-120"/>
              </a:rPr>
              <a:t>Full auth, user profiles, real-time alert database, and RPC functions deployed and operational.</a:t>
            </a:r>
            <a:endParaRPr lang="en-US" sz="950" dirty="0"/>
          </a:p>
        </p:txBody>
      </p:sp>
      <p:sp>
        <p:nvSpPr>
          <p:cNvPr id="16" name="Shape 14"/>
          <p:cNvSpPr/>
          <p:nvPr/>
        </p:nvSpPr>
        <p:spPr>
          <a:xfrm>
            <a:off x="457200" y="2313432"/>
            <a:ext cx="4023360" cy="86868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17" name="Shape 15"/>
          <p:cNvSpPr/>
          <p:nvPr/>
        </p:nvSpPr>
        <p:spPr>
          <a:xfrm>
            <a:off x="621792" y="2574036"/>
            <a:ext cx="347472" cy="347472"/>
          </a:xfrm>
          <a:prstGeom prst="ellipse">
            <a:avLst/>
          </a:prstGeom>
          <a:solidFill>
            <a:srgbClr val="001A00"/>
          </a:solidFill>
          <a:ln w="12700">
            <a:solidFill>
              <a:srgbClr val="00C853"/>
            </a:solidFill>
            <a:prstDash val="solid"/>
          </a:ln>
        </p:spPr>
      </p:sp>
      <p:sp>
        <p:nvSpPr>
          <p:cNvPr id="18" name="Text 16"/>
          <p:cNvSpPr/>
          <p:nvPr/>
        </p:nvSpPr>
        <p:spPr>
          <a:xfrm>
            <a:off x="621792" y="2583180"/>
            <a:ext cx="347472" cy="329184"/>
          </a:xfrm>
          <a:prstGeom prst="rect">
            <a:avLst/>
          </a:prstGeom>
          <a:noFill/>
          <a:ln/>
        </p:spPr>
        <p:txBody>
          <a:bodyPr wrap="square" lIns="0" tIns="0" rIns="0" bIns="0" rtlCol="0" anchor="ctr"/>
          <a:lstStyle/>
          <a:p>
            <a:pPr algn="ctr" indent="0" marL="0">
              <a:buNone/>
            </a:pPr>
            <a:r>
              <a:rPr lang="en-US" sz="1200" b="1" dirty="0">
                <a:solidFill>
                  <a:srgbClr val="00C853"/>
                </a:solidFill>
                <a:latin typeface="Arial Black" pitchFamily="34" charset="0"/>
                <a:ea typeface="Arial Black" pitchFamily="34" charset="-122"/>
                <a:cs typeface="Arial Black" pitchFamily="34" charset="-120"/>
              </a:rPr>
              <a:t>✓</a:t>
            </a:r>
            <a:endParaRPr lang="en-US" sz="1200" dirty="0"/>
          </a:p>
        </p:txBody>
      </p:sp>
      <p:sp>
        <p:nvSpPr>
          <p:cNvPr id="19" name="Text 17"/>
          <p:cNvSpPr/>
          <p:nvPr/>
        </p:nvSpPr>
        <p:spPr>
          <a:xfrm>
            <a:off x="1097280" y="2404872"/>
            <a:ext cx="324612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Gamification Engine</a:t>
            </a:r>
            <a:endParaRPr lang="en-US" sz="1050" dirty="0"/>
          </a:p>
        </p:txBody>
      </p:sp>
      <p:sp>
        <p:nvSpPr>
          <p:cNvPr id="20" name="Text 18"/>
          <p:cNvSpPr/>
          <p:nvPr/>
        </p:nvSpPr>
        <p:spPr>
          <a:xfrm>
            <a:off x="1097280" y="2642616"/>
            <a:ext cx="3246120" cy="475488"/>
          </a:xfrm>
          <a:prstGeom prst="rect">
            <a:avLst/>
          </a:prstGeom>
          <a:noFill/>
          <a:ln/>
        </p:spPr>
        <p:txBody>
          <a:bodyPr wrap="square" lIns="0" tIns="0" rIns="0" bIns="0" rtlCol="0" anchor="t"/>
          <a:lstStyle/>
          <a:p>
            <a:pPr indent="0" marL="0">
              <a:buNone/>
            </a:pPr>
            <a:r>
              <a:rPr lang="en-US" sz="950" dirty="0">
                <a:solidFill>
                  <a:srgbClr val="888888"/>
                </a:solidFill>
                <a:latin typeface="Calibri" pitchFamily="34" charset="0"/>
                <a:ea typeface="Calibri" pitchFamily="34" charset="-122"/>
                <a:cs typeface="Calibri" pitchFamily="34" charset="-120"/>
              </a:rPr>
              <a:t>9-tier ranking system (Tipster → Lookout Legend), points economy, peer-to-peer gifting, and thanks notifications.</a:t>
            </a:r>
            <a:endParaRPr lang="en-US" sz="950" dirty="0"/>
          </a:p>
        </p:txBody>
      </p:sp>
      <p:sp>
        <p:nvSpPr>
          <p:cNvPr id="21" name="Shape 19"/>
          <p:cNvSpPr/>
          <p:nvPr/>
        </p:nvSpPr>
        <p:spPr>
          <a:xfrm>
            <a:off x="4846320" y="2313432"/>
            <a:ext cx="4023360" cy="86868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22" name="Shape 20"/>
          <p:cNvSpPr/>
          <p:nvPr/>
        </p:nvSpPr>
        <p:spPr>
          <a:xfrm>
            <a:off x="5010912" y="2574036"/>
            <a:ext cx="347472" cy="347472"/>
          </a:xfrm>
          <a:prstGeom prst="ellipse">
            <a:avLst/>
          </a:prstGeom>
          <a:solidFill>
            <a:srgbClr val="001A00"/>
          </a:solidFill>
          <a:ln w="12700">
            <a:solidFill>
              <a:srgbClr val="00C853"/>
            </a:solidFill>
            <a:prstDash val="solid"/>
          </a:ln>
        </p:spPr>
      </p:sp>
      <p:sp>
        <p:nvSpPr>
          <p:cNvPr id="23" name="Text 21"/>
          <p:cNvSpPr/>
          <p:nvPr/>
        </p:nvSpPr>
        <p:spPr>
          <a:xfrm>
            <a:off x="5010912" y="2583180"/>
            <a:ext cx="347472" cy="329184"/>
          </a:xfrm>
          <a:prstGeom prst="rect">
            <a:avLst/>
          </a:prstGeom>
          <a:noFill/>
          <a:ln/>
        </p:spPr>
        <p:txBody>
          <a:bodyPr wrap="square" lIns="0" tIns="0" rIns="0" bIns="0" rtlCol="0" anchor="ctr"/>
          <a:lstStyle/>
          <a:p>
            <a:pPr algn="ctr" indent="0" marL="0">
              <a:buNone/>
            </a:pPr>
            <a:r>
              <a:rPr lang="en-US" sz="1200" b="1" dirty="0">
                <a:solidFill>
                  <a:srgbClr val="00C853"/>
                </a:solidFill>
                <a:latin typeface="Arial Black" pitchFamily="34" charset="0"/>
                <a:ea typeface="Arial Black" pitchFamily="34" charset="-122"/>
                <a:cs typeface="Arial Black" pitchFamily="34" charset="-120"/>
              </a:rPr>
              <a:t>✓</a:t>
            </a:r>
            <a:endParaRPr lang="en-US" sz="1200" dirty="0"/>
          </a:p>
        </p:txBody>
      </p:sp>
      <p:sp>
        <p:nvSpPr>
          <p:cNvPr id="24" name="Text 22"/>
          <p:cNvSpPr/>
          <p:nvPr/>
        </p:nvSpPr>
        <p:spPr>
          <a:xfrm>
            <a:off x="5486400" y="2404872"/>
            <a:ext cx="324612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AdMob Integrated</a:t>
            </a:r>
            <a:endParaRPr lang="en-US" sz="1050" dirty="0"/>
          </a:p>
        </p:txBody>
      </p:sp>
      <p:sp>
        <p:nvSpPr>
          <p:cNvPr id="25" name="Text 23"/>
          <p:cNvSpPr/>
          <p:nvPr/>
        </p:nvSpPr>
        <p:spPr>
          <a:xfrm>
            <a:off x="5486400" y="2642616"/>
            <a:ext cx="3246120" cy="475488"/>
          </a:xfrm>
          <a:prstGeom prst="rect">
            <a:avLst/>
          </a:prstGeom>
          <a:noFill/>
          <a:ln/>
        </p:spPr>
        <p:txBody>
          <a:bodyPr wrap="square" lIns="0" tIns="0" rIns="0" bIns="0" rtlCol="0" anchor="t"/>
          <a:lstStyle/>
          <a:p>
            <a:pPr indent="0" marL="0">
              <a:buNone/>
            </a:pPr>
            <a:r>
              <a:rPr lang="en-US" sz="950" dirty="0">
                <a:solidFill>
                  <a:srgbClr val="888888"/>
                </a:solidFill>
                <a:latin typeface="Calibri" pitchFamily="34" charset="0"/>
                <a:ea typeface="Calibri" pitchFamily="34" charset="-122"/>
                <a:cs typeface="Calibri" pitchFamily="34" charset="-120"/>
              </a:rPr>
              <a:t>Google AdMob already integrated — revenue-generating from the very first free user activation.</a:t>
            </a:r>
            <a:endParaRPr lang="en-US" sz="950" dirty="0"/>
          </a:p>
        </p:txBody>
      </p:sp>
      <p:sp>
        <p:nvSpPr>
          <p:cNvPr id="26" name="Shape 24"/>
          <p:cNvSpPr/>
          <p:nvPr/>
        </p:nvSpPr>
        <p:spPr>
          <a:xfrm>
            <a:off x="457200" y="3273552"/>
            <a:ext cx="4023360" cy="86868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27" name="Shape 25"/>
          <p:cNvSpPr/>
          <p:nvPr/>
        </p:nvSpPr>
        <p:spPr>
          <a:xfrm>
            <a:off x="621792" y="3534156"/>
            <a:ext cx="347472" cy="347472"/>
          </a:xfrm>
          <a:prstGeom prst="ellipse">
            <a:avLst/>
          </a:prstGeom>
          <a:solidFill>
            <a:srgbClr val="001A00"/>
          </a:solidFill>
          <a:ln w="12700">
            <a:solidFill>
              <a:srgbClr val="00C853"/>
            </a:solidFill>
            <a:prstDash val="solid"/>
          </a:ln>
        </p:spPr>
      </p:sp>
      <p:sp>
        <p:nvSpPr>
          <p:cNvPr id="28" name="Text 26"/>
          <p:cNvSpPr/>
          <p:nvPr/>
        </p:nvSpPr>
        <p:spPr>
          <a:xfrm>
            <a:off x="621792" y="3543300"/>
            <a:ext cx="347472" cy="329184"/>
          </a:xfrm>
          <a:prstGeom prst="rect">
            <a:avLst/>
          </a:prstGeom>
          <a:noFill/>
          <a:ln/>
        </p:spPr>
        <p:txBody>
          <a:bodyPr wrap="square" lIns="0" tIns="0" rIns="0" bIns="0" rtlCol="0" anchor="ctr"/>
          <a:lstStyle/>
          <a:p>
            <a:pPr algn="ctr" indent="0" marL="0">
              <a:buNone/>
            </a:pPr>
            <a:r>
              <a:rPr lang="en-US" sz="1200" b="1" dirty="0">
                <a:solidFill>
                  <a:srgbClr val="00C853"/>
                </a:solidFill>
                <a:latin typeface="Arial Black" pitchFamily="34" charset="0"/>
                <a:ea typeface="Arial Black" pitchFamily="34" charset="-122"/>
                <a:cs typeface="Arial Black" pitchFamily="34" charset="-120"/>
              </a:rPr>
              <a:t>✓</a:t>
            </a:r>
            <a:endParaRPr lang="en-US" sz="1200" dirty="0"/>
          </a:p>
        </p:txBody>
      </p:sp>
      <p:sp>
        <p:nvSpPr>
          <p:cNvPr id="29" name="Text 27"/>
          <p:cNvSpPr/>
          <p:nvPr/>
        </p:nvSpPr>
        <p:spPr>
          <a:xfrm>
            <a:off x="1097280" y="3364992"/>
            <a:ext cx="324612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Subscription Model Designed</a:t>
            </a:r>
            <a:endParaRPr lang="en-US" sz="1050" dirty="0"/>
          </a:p>
        </p:txBody>
      </p:sp>
      <p:sp>
        <p:nvSpPr>
          <p:cNvPr id="30" name="Text 28"/>
          <p:cNvSpPr/>
          <p:nvPr/>
        </p:nvSpPr>
        <p:spPr>
          <a:xfrm>
            <a:off x="1097280" y="3602736"/>
            <a:ext cx="3246120" cy="475488"/>
          </a:xfrm>
          <a:prstGeom prst="rect">
            <a:avLst/>
          </a:prstGeom>
          <a:noFill/>
          <a:ln/>
        </p:spPr>
        <p:txBody>
          <a:bodyPr wrap="square" lIns="0" tIns="0" rIns="0" bIns="0" rtlCol="0" anchor="t"/>
          <a:lstStyle/>
          <a:p>
            <a:pPr indent="0" marL="0">
              <a:buNone/>
            </a:pPr>
            <a:r>
              <a:rPr lang="en-US" sz="950" dirty="0">
                <a:solidFill>
                  <a:srgbClr val="888888"/>
                </a:solidFill>
                <a:latin typeface="Calibri" pitchFamily="34" charset="0"/>
                <a:ea typeface="Calibri" pitchFamily="34" charset="-122"/>
                <a:cs typeface="Calibri" pitchFamily="34" charset="-120"/>
              </a:rPr>
              <a:t>4-tier pricing (Free/Basic/Pro/Unlimited) designed and ready for RevenueCat implementation.</a:t>
            </a:r>
            <a:endParaRPr lang="en-US" sz="950" dirty="0"/>
          </a:p>
        </p:txBody>
      </p:sp>
      <p:sp>
        <p:nvSpPr>
          <p:cNvPr id="31" name="Shape 29"/>
          <p:cNvSpPr/>
          <p:nvPr/>
        </p:nvSpPr>
        <p:spPr>
          <a:xfrm>
            <a:off x="4846320" y="3273552"/>
            <a:ext cx="4023360" cy="86868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32" name="Shape 30"/>
          <p:cNvSpPr/>
          <p:nvPr/>
        </p:nvSpPr>
        <p:spPr>
          <a:xfrm>
            <a:off x="5010912" y="3534156"/>
            <a:ext cx="347472" cy="347472"/>
          </a:xfrm>
          <a:prstGeom prst="ellipse">
            <a:avLst/>
          </a:prstGeom>
          <a:solidFill>
            <a:srgbClr val="1A1400"/>
          </a:solidFill>
          <a:ln w="12700">
            <a:solidFill>
              <a:srgbClr val="FFD700"/>
            </a:solidFill>
            <a:prstDash val="solid"/>
          </a:ln>
        </p:spPr>
      </p:sp>
      <p:sp>
        <p:nvSpPr>
          <p:cNvPr id="33" name="Text 31"/>
          <p:cNvSpPr/>
          <p:nvPr/>
        </p:nvSpPr>
        <p:spPr>
          <a:xfrm>
            <a:off x="5010912" y="3543300"/>
            <a:ext cx="347472" cy="329184"/>
          </a:xfrm>
          <a:prstGeom prst="rect">
            <a:avLst/>
          </a:prstGeom>
          <a:noFill/>
          <a:ln/>
        </p:spPr>
        <p:txBody>
          <a:bodyPr wrap="square" lIns="0" tIns="0" rIns="0" bIns="0" rtlCol="0" anchor="ctr"/>
          <a:lstStyle/>
          <a:p>
            <a:pPr algn="ctr" indent="0" marL="0">
              <a:buNone/>
            </a:pPr>
            <a:r>
              <a:rPr lang="en-US" sz="1200" b="1" dirty="0">
                <a:solidFill>
                  <a:srgbClr val="FFD700"/>
                </a:solidFill>
                <a:latin typeface="Arial Black" pitchFamily="34" charset="0"/>
                <a:ea typeface="Arial Black" pitchFamily="34" charset="-122"/>
                <a:cs typeface="Arial Black" pitchFamily="34" charset="-120"/>
              </a:rPr>
              <a:t>›</a:t>
            </a:r>
            <a:endParaRPr lang="en-US" sz="1200" dirty="0"/>
          </a:p>
        </p:txBody>
      </p:sp>
      <p:sp>
        <p:nvSpPr>
          <p:cNvPr id="34" name="Text 32"/>
          <p:cNvSpPr/>
          <p:nvPr/>
        </p:nvSpPr>
        <p:spPr>
          <a:xfrm>
            <a:off x="5486400" y="3364992"/>
            <a:ext cx="3246120" cy="2194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App Store &amp; Play Store Launch</a:t>
            </a:r>
            <a:endParaRPr lang="en-US" sz="1050" dirty="0"/>
          </a:p>
        </p:txBody>
      </p:sp>
      <p:sp>
        <p:nvSpPr>
          <p:cNvPr id="35" name="Text 33"/>
          <p:cNvSpPr/>
          <p:nvPr/>
        </p:nvSpPr>
        <p:spPr>
          <a:xfrm>
            <a:off x="5486400" y="3602736"/>
            <a:ext cx="3246120" cy="475488"/>
          </a:xfrm>
          <a:prstGeom prst="rect">
            <a:avLst/>
          </a:prstGeom>
          <a:noFill/>
          <a:ln/>
        </p:spPr>
        <p:txBody>
          <a:bodyPr wrap="square" lIns="0" tIns="0" rIns="0" bIns="0" rtlCol="0" anchor="t"/>
          <a:lstStyle/>
          <a:p>
            <a:pPr indent="0" marL="0">
              <a:buNone/>
            </a:pPr>
            <a:r>
              <a:rPr lang="en-US" sz="950" dirty="0">
                <a:solidFill>
                  <a:srgbClr val="888888"/>
                </a:solidFill>
                <a:latin typeface="Calibri" pitchFamily="34" charset="0"/>
                <a:ea typeface="Calibri" pitchFamily="34" charset="-122"/>
                <a:cs typeface="Calibri" pitchFamily="34" charset="-120"/>
              </a:rPr>
              <a:t>Pending Apple Developer account. Android Play Store build ready — both stores launchable simultaneously.</a:t>
            </a:r>
            <a:endParaRPr lang="en-US" sz="950" dirty="0"/>
          </a:p>
        </p:txBody>
      </p:sp>
      <p:sp>
        <p:nvSpPr>
          <p:cNvPr id="36" name="Text 34"/>
          <p:cNvSpPr/>
          <p:nvPr/>
        </p:nvSpPr>
        <p:spPr>
          <a:xfrm>
            <a:off x="457200" y="4864608"/>
            <a:ext cx="8229600" cy="182880"/>
          </a:xfrm>
          <a:prstGeom prst="rect">
            <a:avLst/>
          </a:prstGeom>
          <a:noFill/>
          <a:ln/>
        </p:spPr>
        <p:txBody>
          <a:bodyPr wrap="square" lIns="0" tIns="0" rIns="0" bIns="0" rtlCol="0" anchor="ctr"/>
          <a:lstStyle/>
          <a:p>
            <a:pPr indent="0" marL="0">
              <a:buNone/>
            </a:pPr>
            <a:r>
              <a:rPr lang="en-US" sz="800" i="1" dirty="0">
                <a:solidFill>
                  <a:srgbClr val="555555"/>
                </a:solidFill>
                <a:latin typeface="Calibri" pitchFamily="34" charset="0"/>
                <a:ea typeface="Calibri" pitchFamily="34" charset="-122"/>
                <a:cs typeface="Calibri" pitchFamily="34" charset="-120"/>
              </a:rPr>
              <a:t>Built by a single founder as a production-ready prototype — demonstrating lean execution from concept to working app.</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D700"/>
          </a:solidFill>
          <a:ln w="12700">
            <a:solidFill>
              <a:srgbClr val="FFD700"/>
            </a:solidFill>
            <a:prstDash val="solid"/>
          </a:ln>
        </p:spPr>
      </p:sp>
      <p:sp>
        <p:nvSpPr>
          <p:cNvPr id="3" name="Shape 1"/>
          <p:cNvSpPr/>
          <p:nvPr/>
        </p:nvSpPr>
        <p:spPr>
          <a:xfrm>
            <a:off x="0" y="5079492"/>
            <a:ext cx="9144000" cy="64008"/>
          </a:xfrm>
          <a:prstGeom prst="rect">
            <a:avLst/>
          </a:prstGeom>
          <a:solidFill>
            <a:srgbClr val="FFD700"/>
          </a:solidFill>
          <a:ln w="12700">
            <a:solidFill>
              <a:srgbClr val="FFD700"/>
            </a:solidFill>
            <a:prstDash val="solid"/>
          </a:ln>
        </p:spPr>
      </p:sp>
      <p:sp>
        <p:nvSpPr>
          <p:cNvPr id="4" name="Text 2"/>
          <p:cNvSpPr/>
          <p:nvPr/>
        </p:nvSpPr>
        <p:spPr>
          <a:xfrm>
            <a:off x="4572000" y="201168"/>
            <a:ext cx="4206240" cy="256032"/>
          </a:xfrm>
          <a:prstGeom prst="rect">
            <a:avLst/>
          </a:prstGeom>
          <a:noFill/>
          <a:ln/>
        </p:spPr>
        <p:txBody>
          <a:bodyPr wrap="square" lIns="0" tIns="0" rIns="0" bIns="0" rtlCol="0" anchor="ctr"/>
          <a:lstStyle/>
          <a:p>
            <a:pPr algn="r" indent="0" marL="0">
              <a:buNone/>
            </a:pPr>
            <a:r>
              <a:rPr lang="en-US" sz="900" b="1" spc="400" kern="0" dirty="0">
                <a:solidFill>
                  <a:srgbClr val="FFD700"/>
                </a:solidFill>
                <a:latin typeface="Calibri" pitchFamily="34" charset="0"/>
                <a:ea typeface="Calibri" pitchFamily="34" charset="-122"/>
                <a:cs typeface="Calibri" pitchFamily="34" charset="-120"/>
              </a:rPr>
              <a:t>COMPETITIVE LANDSCAPE</a:t>
            </a:r>
            <a:endParaRPr lang="en-US" sz="900" dirty="0"/>
          </a:p>
        </p:txBody>
      </p:sp>
      <p:sp>
        <p:nvSpPr>
          <p:cNvPr id="5" name="Text 3"/>
          <p:cNvSpPr/>
          <p:nvPr/>
        </p:nvSpPr>
        <p:spPr>
          <a:xfrm>
            <a:off x="548640" y="457200"/>
            <a:ext cx="8046720" cy="594360"/>
          </a:xfrm>
          <a:prstGeom prst="rect">
            <a:avLst/>
          </a:prstGeom>
          <a:noFill/>
          <a:ln/>
        </p:spPr>
        <p:txBody>
          <a:bodyPr wrap="square" lIns="0" tIns="0" rIns="0" bIns="0"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No one is doing what we do.</a:t>
            </a:r>
            <a:endParaRPr lang="en-US" sz="3000" dirty="0"/>
          </a:p>
        </p:txBody>
      </p:sp>
      <p:sp>
        <p:nvSpPr>
          <p:cNvPr id="6" name="Text 4"/>
          <p:cNvSpPr/>
          <p:nvPr/>
        </p:nvSpPr>
        <p:spPr>
          <a:xfrm>
            <a:off x="548640" y="1097280"/>
            <a:ext cx="8046720" cy="384048"/>
          </a:xfrm>
          <a:prstGeom prst="rect">
            <a:avLst/>
          </a:prstGeom>
          <a:noFill/>
          <a:ln/>
        </p:spPr>
        <p:txBody>
          <a:bodyPr wrap="square" lIns="0" tIns="0" rIns="0" bIns="0" rtlCol="0" anchor="ctr"/>
          <a:lstStyle/>
          <a:p>
            <a:pPr indent="0" marL="0">
              <a:buNone/>
            </a:pPr>
            <a:r>
              <a:rPr lang="en-US" sz="1150" dirty="0">
                <a:solidFill>
                  <a:srgbClr val="888888"/>
                </a:solidFill>
                <a:latin typeface="Calibri" pitchFamily="34" charset="0"/>
                <a:ea typeface="Calibri" pitchFamily="34" charset="-122"/>
                <a:cs typeface="Calibri" pitchFamily="34" charset="-120"/>
              </a:rPr>
              <a:t>Warden alerts exist informally in Facebook groups — unstructured, slow, and impossible to monetise. Double Yellow turns that behaviour into a scalable product.</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572768"/>
          <a:ext cx="8412480" cy="3063240"/>
        </p:xfrm>
        <a:graphic>
          <a:graphicData uri="http://schemas.openxmlformats.org/drawingml/2006/table">
            <a:tbl>
              <a:tblPr/>
              <a:tblGrid>
                <a:gridCol w="2743200"/>
                <a:gridCol w="1234440"/>
                <a:gridCol w="1234440"/>
                <a:gridCol w="1234440"/>
                <a:gridCol w="1600200"/>
              </a:tblGrid>
              <a:tr h="502920">
                <a:tc>
                  <a:txBody>
                    <a:bodyPr/>
                    <a:lstStyle/>
                    <a:p>
                      <a:pPr algn="l" indent="0" marL="0">
                        <a:buNone/>
                      </a:pPr>
                      <a:endParaRPr lang="en-US" sz="9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222222"/>
                    </a:solidFill>
                  </a:tcPr>
                </a:tc>
                <a:tc>
                  <a:txBody>
                    <a:bodyPr/>
                    <a:lstStyle/>
                    <a:p>
                      <a:pPr algn="ctr" indent="0" marL="0">
                        <a:buNone/>
                      </a:pPr>
                      <a:r>
                        <a:rPr lang="en-US" sz="900" b="1" dirty="0">
                          <a:solidFill>
                            <a:srgbClr val="0D0D0D"/>
                          </a:solidFill>
                        </a:rPr>
                        <a:t>Double Yellow</a:t>
                      </a:r>
                      <a:endParaRPr lang="en-US" sz="9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FFD700"/>
                    </a:solidFill>
                  </a:tcPr>
                </a:tc>
                <a:tc>
                  <a:txBody>
                    <a:bodyPr/>
                    <a:lstStyle/>
                    <a:p>
                      <a:pPr algn="ctr" indent="0" marL="0">
                        <a:buNone/>
                      </a:pPr>
                      <a:r>
                        <a:rPr lang="en-US" sz="900" b="1" dirty="0">
                          <a:solidFill>
                            <a:srgbClr val="FFFFFF"/>
                          </a:solidFill>
                        </a:rPr>
                        <a:t>Waze / Google</a:t>
                      </a:r>
                      <a:endParaRPr lang="en-US" sz="9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222222"/>
                    </a:solidFill>
                  </a:tcPr>
                </a:tc>
                <a:tc>
                  <a:txBody>
                    <a:bodyPr/>
                    <a:lstStyle/>
                    <a:p>
                      <a:pPr algn="ctr" indent="0" marL="0">
                        <a:buNone/>
                      </a:pPr>
                      <a:r>
                        <a:rPr lang="en-US" sz="900" b="1" dirty="0">
                          <a:solidFill>
                            <a:srgbClr val="FFFFFF"/>
                          </a:solidFill>
                        </a:rPr>
                        <a:t>Parking Apps</a:t>
                      </a:r>
                      <a:endParaRPr lang="en-US" sz="9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222222"/>
                    </a:solidFill>
                  </a:tcPr>
                </a:tc>
                <a:tc>
                  <a:txBody>
                    <a:bodyPr/>
                    <a:lstStyle/>
                    <a:p>
                      <a:pPr algn="ctr" indent="0" marL="0">
                        <a:buNone/>
                      </a:pPr>
                      <a:r>
                        <a:rPr lang="en-US" sz="900" b="1" dirty="0">
                          <a:solidFill>
                            <a:srgbClr val="FFFFFF"/>
                          </a:solidFill>
                        </a:rPr>
                        <a:t>FB Warden Groups</a:t>
                      </a:r>
                      <a:endParaRPr lang="en-US" sz="9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222222"/>
                    </a:solidFill>
                  </a:tcPr>
                </a:tc>
              </a:tr>
              <a:tr h="502920">
                <a:tc>
                  <a:txBody>
                    <a:bodyPr/>
                    <a:lstStyle/>
                    <a:p>
                      <a:pPr algn="l" indent="0" marL="0">
                        <a:buNone/>
                      </a:pPr>
                      <a:r>
                        <a:rPr lang="en-US" sz="1000" dirty="0">
                          <a:solidFill>
                            <a:srgbClr val="FFFFFF"/>
                          </a:solidFill>
                        </a:rPr>
                        <a:t>Real-time warden alerts</a:t>
                      </a:r>
                      <a:endParaRPr lang="en-US" sz="10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A1A1A"/>
                    </a:solidFill>
                  </a:tcPr>
                </a:tc>
                <a:tc>
                  <a:txBody>
                    <a:bodyPr/>
                    <a:lstStyle/>
                    <a:p>
                      <a:pPr algn="ctr" indent="0" marL="0">
                        <a:buNone/>
                      </a:pPr>
                      <a:r>
                        <a:rPr lang="en-US" sz="1400" b="1" dirty="0">
                          <a:solidFill>
                            <a:srgbClr val="00C853"/>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11A00"/>
                    </a:solidFill>
                  </a:tcPr>
                </a:tc>
                <a:tc>
                  <a:txBody>
                    <a:bodyPr/>
                    <a:lstStyle/>
                    <a:p>
                      <a:pPr algn="ctr" indent="0" marL="0">
                        <a:buNone/>
                      </a:pPr>
                      <a:r>
                        <a:rPr lang="en-US" sz="1400" dirty="0">
                          <a:solidFill>
                            <a:srgbClr val="666666"/>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A1A1A"/>
                    </a:solidFill>
                  </a:tcPr>
                </a:tc>
                <a:tc>
                  <a:txBody>
                    <a:bodyPr/>
                    <a:lstStyle/>
                    <a:p>
                      <a:pPr algn="ctr" indent="0" marL="0">
                        <a:buNone/>
                      </a:pPr>
                      <a:r>
                        <a:rPr lang="en-US" sz="1400" dirty="0">
                          <a:solidFill>
                            <a:srgbClr val="666666"/>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A1A1A"/>
                    </a:solidFill>
                  </a:tcPr>
                </a:tc>
                <a:tc>
                  <a:txBody>
                    <a:bodyPr/>
                    <a:lstStyle/>
                    <a:p>
                      <a:pPr algn="ctr" indent="0" marL="0">
                        <a:buNone/>
                      </a:pPr>
                      <a:r>
                        <a:rPr lang="en-US" sz="1000" i="1" dirty="0">
                          <a:solidFill>
                            <a:srgbClr val="888888"/>
                          </a:solidFill>
                        </a:rPr>
                        <a:t>Slow</a:t>
                      </a:r>
                      <a:endParaRPr lang="en-US" sz="10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A1A1A"/>
                    </a:solidFill>
                  </a:tcPr>
                </a:tc>
              </a:tr>
              <a:tr h="502920">
                <a:tc>
                  <a:txBody>
                    <a:bodyPr/>
                    <a:lstStyle/>
                    <a:p>
                      <a:pPr algn="l" indent="0" marL="0">
                        <a:buNone/>
                      </a:pPr>
                      <a:r>
                        <a:rPr lang="en-US" sz="1000" dirty="0">
                          <a:solidFill>
                            <a:srgbClr val="FFFFFF"/>
                          </a:solidFill>
                        </a:rPr>
                        <a:t>Push notifications to nearby drivers</a:t>
                      </a:r>
                      <a:endParaRPr lang="en-US" sz="10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11111"/>
                    </a:solidFill>
                  </a:tcPr>
                </a:tc>
                <a:tc>
                  <a:txBody>
                    <a:bodyPr/>
                    <a:lstStyle/>
                    <a:p>
                      <a:pPr algn="ctr" indent="0" marL="0">
                        <a:buNone/>
                      </a:pPr>
                      <a:r>
                        <a:rPr lang="en-US" sz="1400" b="1" dirty="0">
                          <a:solidFill>
                            <a:srgbClr val="00C853"/>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11800"/>
                    </a:solidFill>
                  </a:tcPr>
                </a:tc>
                <a:tc>
                  <a:txBody>
                    <a:bodyPr/>
                    <a:lstStyle/>
                    <a:p>
                      <a:pPr algn="ctr" indent="0" marL="0">
                        <a:buNone/>
                      </a:pPr>
                      <a:r>
                        <a:rPr lang="en-US" sz="1400" dirty="0">
                          <a:solidFill>
                            <a:srgbClr val="666666"/>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11111"/>
                    </a:solidFill>
                  </a:tcPr>
                </a:tc>
                <a:tc>
                  <a:txBody>
                    <a:bodyPr/>
                    <a:lstStyle/>
                    <a:p>
                      <a:pPr algn="ctr" indent="0" marL="0">
                        <a:buNone/>
                      </a:pPr>
                      <a:r>
                        <a:rPr lang="en-US" sz="1400" dirty="0">
                          <a:solidFill>
                            <a:srgbClr val="666666"/>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11111"/>
                    </a:solidFill>
                  </a:tcPr>
                </a:tc>
                <a:tc>
                  <a:txBody>
                    <a:bodyPr/>
                    <a:lstStyle/>
                    <a:p>
                      <a:pPr algn="ctr" indent="0" marL="0">
                        <a:buNone/>
                      </a:pPr>
                      <a:r>
                        <a:rPr lang="en-US" sz="1400" dirty="0">
                          <a:solidFill>
                            <a:srgbClr val="666666"/>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11111"/>
                    </a:solidFill>
                  </a:tcPr>
                </a:tc>
              </a:tr>
              <a:tr h="502920">
                <a:tc>
                  <a:txBody>
                    <a:bodyPr/>
                    <a:lstStyle/>
                    <a:p>
                      <a:pPr algn="l" indent="0" marL="0">
                        <a:buNone/>
                      </a:pPr>
                      <a:r>
                        <a:rPr lang="en-US" sz="1000" dirty="0">
                          <a:solidFill>
                            <a:srgbClr val="FFFFFF"/>
                          </a:solidFill>
                        </a:rPr>
                        <a:t>Gamification &amp; community rewards</a:t>
                      </a:r>
                      <a:endParaRPr lang="en-US" sz="10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A1A1A"/>
                    </a:solidFill>
                  </a:tcPr>
                </a:tc>
                <a:tc>
                  <a:txBody>
                    <a:bodyPr/>
                    <a:lstStyle/>
                    <a:p>
                      <a:pPr algn="ctr" indent="0" marL="0">
                        <a:buNone/>
                      </a:pPr>
                      <a:r>
                        <a:rPr lang="en-US" sz="1400" b="1" dirty="0">
                          <a:solidFill>
                            <a:srgbClr val="00C853"/>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11A00"/>
                    </a:solidFill>
                  </a:tcPr>
                </a:tc>
                <a:tc>
                  <a:txBody>
                    <a:bodyPr/>
                    <a:lstStyle/>
                    <a:p>
                      <a:pPr algn="ctr" indent="0" marL="0">
                        <a:buNone/>
                      </a:pPr>
                      <a:r>
                        <a:rPr lang="en-US" sz="1400" dirty="0">
                          <a:solidFill>
                            <a:srgbClr val="666666"/>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A1A1A"/>
                    </a:solidFill>
                  </a:tcPr>
                </a:tc>
                <a:tc>
                  <a:txBody>
                    <a:bodyPr/>
                    <a:lstStyle/>
                    <a:p>
                      <a:pPr algn="ctr" indent="0" marL="0">
                        <a:buNone/>
                      </a:pPr>
                      <a:r>
                        <a:rPr lang="en-US" sz="1400" dirty="0">
                          <a:solidFill>
                            <a:srgbClr val="666666"/>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A1A1A"/>
                    </a:solidFill>
                  </a:tcPr>
                </a:tc>
                <a:tc>
                  <a:txBody>
                    <a:bodyPr/>
                    <a:lstStyle/>
                    <a:p>
                      <a:pPr algn="ctr" indent="0" marL="0">
                        <a:buNone/>
                      </a:pPr>
                      <a:r>
                        <a:rPr lang="en-US" sz="1400" dirty="0">
                          <a:solidFill>
                            <a:srgbClr val="666666"/>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A1A1A"/>
                    </a:solidFill>
                  </a:tcPr>
                </a:tc>
              </a:tr>
              <a:tr h="502920">
                <a:tc>
                  <a:txBody>
                    <a:bodyPr/>
                    <a:lstStyle/>
                    <a:p>
                      <a:pPr algn="l" indent="0" marL="0">
                        <a:buNone/>
                      </a:pPr>
                      <a:r>
                        <a:rPr lang="en-US" sz="1000" dirty="0">
                          <a:solidFill>
                            <a:srgbClr val="FFFFFF"/>
                          </a:solidFill>
                        </a:rPr>
                        <a:t>Built for van drivers &amp; tradespeople</a:t>
                      </a:r>
                      <a:endParaRPr lang="en-US" sz="10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11111"/>
                    </a:solidFill>
                  </a:tcPr>
                </a:tc>
                <a:tc>
                  <a:txBody>
                    <a:bodyPr/>
                    <a:lstStyle/>
                    <a:p>
                      <a:pPr algn="ctr" indent="0" marL="0">
                        <a:buNone/>
                      </a:pPr>
                      <a:r>
                        <a:rPr lang="en-US" sz="1400" b="1" dirty="0">
                          <a:solidFill>
                            <a:srgbClr val="00C853"/>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11800"/>
                    </a:solidFill>
                  </a:tcPr>
                </a:tc>
                <a:tc>
                  <a:txBody>
                    <a:bodyPr/>
                    <a:lstStyle/>
                    <a:p>
                      <a:pPr algn="ctr" indent="0" marL="0">
                        <a:buNone/>
                      </a:pPr>
                      <a:r>
                        <a:rPr lang="en-US" sz="1400" dirty="0">
                          <a:solidFill>
                            <a:srgbClr val="888888"/>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11111"/>
                    </a:solidFill>
                  </a:tcPr>
                </a:tc>
                <a:tc>
                  <a:txBody>
                    <a:bodyPr/>
                    <a:lstStyle/>
                    <a:p>
                      <a:pPr algn="ctr" indent="0" marL="0">
                        <a:buNone/>
                      </a:pPr>
                      <a:r>
                        <a:rPr lang="en-US" sz="1400" dirty="0">
                          <a:solidFill>
                            <a:srgbClr val="888888"/>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11111"/>
                    </a:solidFill>
                  </a:tcPr>
                </a:tc>
                <a:tc>
                  <a:txBody>
                    <a:bodyPr/>
                    <a:lstStyle/>
                    <a:p>
                      <a:pPr algn="ctr" indent="0" marL="0">
                        <a:buNone/>
                      </a:pPr>
                      <a:r>
                        <a:rPr lang="en-US" sz="1400" dirty="0">
                          <a:solidFill>
                            <a:srgbClr val="666666"/>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11111"/>
                    </a:solidFill>
                  </a:tcPr>
                </a:tc>
              </a:tr>
              <a:tr h="502920">
                <a:tc>
                  <a:txBody>
                    <a:bodyPr/>
                    <a:lstStyle/>
                    <a:p>
                      <a:pPr algn="l" indent="0" marL="0">
                        <a:buNone/>
                      </a:pPr>
                      <a:r>
                        <a:rPr lang="en-US" sz="1000" dirty="0">
                          <a:solidFill>
                            <a:srgbClr val="FFFFFF"/>
                          </a:solidFill>
                        </a:rPr>
                        <a:t>Network effect flywheel</a:t>
                      </a:r>
                      <a:endParaRPr lang="en-US" sz="10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A1A1A"/>
                    </a:solidFill>
                  </a:tcPr>
                </a:tc>
                <a:tc>
                  <a:txBody>
                    <a:bodyPr/>
                    <a:lstStyle/>
                    <a:p>
                      <a:pPr algn="ctr" indent="0" marL="0">
                        <a:buNone/>
                      </a:pPr>
                      <a:r>
                        <a:rPr lang="en-US" sz="1400" b="1" dirty="0">
                          <a:solidFill>
                            <a:srgbClr val="00C853"/>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11A00"/>
                    </a:solidFill>
                  </a:tcPr>
                </a:tc>
                <a:tc>
                  <a:txBody>
                    <a:bodyPr/>
                    <a:lstStyle/>
                    <a:p>
                      <a:pPr algn="ctr" indent="0" marL="0">
                        <a:buNone/>
                      </a:pPr>
                      <a:r>
                        <a:rPr lang="en-US" sz="1400" b="1" dirty="0">
                          <a:solidFill>
                            <a:srgbClr val="00C853"/>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A1A1A"/>
                    </a:solidFill>
                  </a:tcPr>
                </a:tc>
                <a:tc>
                  <a:txBody>
                    <a:bodyPr/>
                    <a:lstStyle/>
                    <a:p>
                      <a:pPr algn="ctr" indent="0" marL="0">
                        <a:buNone/>
                      </a:pPr>
                      <a:r>
                        <a:rPr lang="en-US" sz="1400" dirty="0">
                          <a:solidFill>
                            <a:srgbClr val="666666"/>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A1A1A"/>
                    </a:solidFill>
                  </a:tcPr>
                </a:tc>
                <a:tc>
                  <a:txBody>
                    <a:bodyPr/>
                    <a:lstStyle/>
                    <a:p>
                      <a:pPr algn="ctr" indent="0" marL="0">
                        <a:buNone/>
                      </a:pPr>
                      <a:r>
                        <a:rPr lang="en-US" sz="1400" dirty="0">
                          <a:solidFill>
                            <a:srgbClr val="666666"/>
                          </a:solidFill>
                        </a:rPr>
                        <a:t>✗</a:t>
                      </a:r>
                      <a:endParaRPr lang="en-US" sz="1400" dirty="0"/>
                    </a:p>
                  </a:txBody>
                  <a:tcPr marL="91440" marR="91440" marT="45720" marB="45720">
                    <a:lnL w="12700" cap="flat" cmpd="sng" algn="ctr">
                      <a:solidFill>
                        <a:srgbClr val="2A2A2A"/>
                      </a:solidFill>
                      <a:prstDash val="solid"/>
                      <a:round/>
                      <a:headEnd type="none" w="med" len="med"/>
                      <a:tailEnd type="none" w="med" len="med"/>
                    </a:lnL>
                    <a:lnR w="12700" cap="flat" cmpd="sng" algn="ctr">
                      <a:solidFill>
                        <a:srgbClr val="2A2A2A"/>
                      </a:solidFill>
                      <a:prstDash val="solid"/>
                      <a:round/>
                      <a:headEnd type="none" w="med" len="med"/>
                      <a:tailEnd type="none" w="med" len="med"/>
                    </a:lnR>
                    <a:lnT w="12700" cap="flat" cmpd="sng" algn="ctr">
                      <a:solidFill>
                        <a:srgbClr val="2A2A2A"/>
                      </a:solidFill>
                      <a:prstDash val="solid"/>
                      <a:round/>
                      <a:headEnd type="none" w="med" len="med"/>
                      <a:tailEnd type="none" w="med" len="med"/>
                    </a:lnT>
                    <a:lnB w="12700" cap="flat" cmpd="sng" algn="ctr">
                      <a:solidFill>
                        <a:srgbClr val="2A2A2A"/>
                      </a:solidFill>
                      <a:prstDash val="solid"/>
                      <a:round/>
                      <a:headEnd type="none" w="med" len="med"/>
                      <a:tailEnd type="none" w="med" len="med"/>
                    </a:lnB>
                    <a:solidFill>
                      <a:srgbClr val="1A1A1A"/>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D700"/>
          </a:solidFill>
          <a:ln w="12700">
            <a:solidFill>
              <a:srgbClr val="FFD700"/>
            </a:solidFill>
            <a:prstDash val="solid"/>
          </a:ln>
        </p:spPr>
      </p:sp>
      <p:sp>
        <p:nvSpPr>
          <p:cNvPr id="3" name="Shape 1"/>
          <p:cNvSpPr/>
          <p:nvPr/>
        </p:nvSpPr>
        <p:spPr>
          <a:xfrm>
            <a:off x="0" y="5079492"/>
            <a:ext cx="9144000" cy="64008"/>
          </a:xfrm>
          <a:prstGeom prst="rect">
            <a:avLst/>
          </a:prstGeom>
          <a:solidFill>
            <a:srgbClr val="FFD700"/>
          </a:solidFill>
          <a:ln w="12700">
            <a:solidFill>
              <a:srgbClr val="FFD700"/>
            </a:solidFill>
            <a:prstDash val="solid"/>
          </a:ln>
        </p:spPr>
      </p:sp>
      <p:sp>
        <p:nvSpPr>
          <p:cNvPr id="4" name="Text 2"/>
          <p:cNvSpPr/>
          <p:nvPr/>
        </p:nvSpPr>
        <p:spPr>
          <a:xfrm>
            <a:off x="4572000" y="201168"/>
            <a:ext cx="4206240" cy="256032"/>
          </a:xfrm>
          <a:prstGeom prst="rect">
            <a:avLst/>
          </a:prstGeom>
          <a:noFill/>
          <a:ln/>
        </p:spPr>
        <p:txBody>
          <a:bodyPr wrap="square" lIns="0" tIns="0" rIns="0" bIns="0" rtlCol="0" anchor="ctr"/>
          <a:lstStyle/>
          <a:p>
            <a:pPr algn="r" indent="0" marL="0">
              <a:buNone/>
            </a:pPr>
            <a:r>
              <a:rPr lang="en-US" sz="900" b="1" spc="400" kern="0" dirty="0">
                <a:solidFill>
                  <a:srgbClr val="FFD700"/>
                </a:solidFill>
                <a:latin typeface="Calibri" pitchFamily="34" charset="0"/>
                <a:ea typeface="Calibri" pitchFamily="34" charset="-122"/>
                <a:cs typeface="Calibri" pitchFamily="34" charset="-120"/>
              </a:rPr>
              <a:t>GO-TO-MARKET</a:t>
            </a:r>
            <a:endParaRPr lang="en-US" sz="900" dirty="0"/>
          </a:p>
        </p:txBody>
      </p:sp>
      <p:sp>
        <p:nvSpPr>
          <p:cNvPr id="5" name="Text 3"/>
          <p:cNvSpPr/>
          <p:nvPr/>
        </p:nvSpPr>
        <p:spPr>
          <a:xfrm>
            <a:off x="548640" y="320040"/>
            <a:ext cx="8046720" cy="914400"/>
          </a:xfrm>
          <a:prstGeom prst="rect">
            <a:avLst/>
          </a:prstGeom>
          <a:noFill/>
          <a:ln/>
        </p:spPr>
        <p:txBody>
          <a:bodyPr wrap="square" lIns="0" tIns="0" rIns="0" bIns="0" rtlCol="0" anchor="ctr"/>
          <a:lstStyle/>
          <a:p>
            <a:pPr indent="0" marL="0">
              <a:buNone/>
            </a:pPr>
            <a:r>
              <a:rPr lang="en-US" sz="2400" b="1" dirty="0">
                <a:solidFill>
                  <a:srgbClr val="FFFFFF"/>
                </a:solidFill>
                <a:latin typeface="Arial Black" pitchFamily="34" charset="0"/>
                <a:ea typeface="Arial Black" pitchFamily="34" charset="-122"/>
                <a:cs typeface="Arial Black" pitchFamily="34" charset="-120"/>
              </a:rPr>
              <a:t>London First.</a:t>
            </a:r>
            <a:endParaRPr lang="en-US" sz="2400" dirty="0"/>
          </a:p>
          <a:p>
            <a:pPr indent="0" marL="0">
              <a:buNone/>
            </a:pPr>
            <a:r>
              <a:rPr lang="en-US" sz="2400" b="1" dirty="0">
                <a:solidFill>
                  <a:srgbClr val="FFFFFF"/>
                </a:solidFill>
                <a:latin typeface="Arial Black" pitchFamily="34" charset="0"/>
                <a:ea typeface="Arial Black" pitchFamily="34" charset="-122"/>
                <a:cs typeface="Arial Black" pitchFamily="34" charset="-120"/>
              </a:rPr>
              <a:t>Seed to critical mass. Then expand.</a:t>
            </a:r>
            <a:endParaRPr lang="en-US" sz="2400" dirty="0"/>
          </a:p>
        </p:txBody>
      </p:sp>
      <p:sp>
        <p:nvSpPr>
          <p:cNvPr id="6" name="Shape 4"/>
          <p:cNvSpPr/>
          <p:nvPr/>
        </p:nvSpPr>
        <p:spPr>
          <a:xfrm>
            <a:off x="457200" y="1325880"/>
            <a:ext cx="8229600" cy="749808"/>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7" name="Shape 5"/>
          <p:cNvSpPr/>
          <p:nvPr/>
        </p:nvSpPr>
        <p:spPr>
          <a:xfrm>
            <a:off x="457200" y="1325880"/>
            <a:ext cx="50292" cy="749808"/>
          </a:xfrm>
          <a:prstGeom prst="rect">
            <a:avLst/>
          </a:prstGeom>
          <a:solidFill>
            <a:srgbClr val="FFD700"/>
          </a:solidFill>
          <a:ln w="12700">
            <a:solidFill>
              <a:srgbClr val="FFD700"/>
            </a:solidFill>
            <a:prstDash val="solid"/>
          </a:ln>
        </p:spPr>
      </p:sp>
      <p:sp>
        <p:nvSpPr>
          <p:cNvPr id="8" name="Text 6"/>
          <p:cNvSpPr/>
          <p:nvPr/>
        </p:nvSpPr>
        <p:spPr>
          <a:xfrm>
            <a:off x="640080" y="1389888"/>
            <a:ext cx="7772400" cy="201168"/>
          </a:xfrm>
          <a:prstGeom prst="rect">
            <a:avLst/>
          </a:prstGeom>
          <a:noFill/>
          <a:ln/>
        </p:spPr>
        <p:txBody>
          <a:bodyPr wrap="square" lIns="0" tIns="0" rIns="0" bIns="0" rtlCol="0" anchor="ctr"/>
          <a:lstStyle/>
          <a:p>
            <a:pPr indent="0" marL="0">
              <a:buNone/>
            </a:pPr>
            <a:r>
              <a:rPr lang="en-US" sz="950" b="1" spc="200" kern="0" dirty="0">
                <a:solidFill>
                  <a:srgbClr val="FFD700"/>
                </a:solidFill>
                <a:latin typeface="Calibri" pitchFamily="34" charset="0"/>
                <a:ea typeface="Calibri" pitchFamily="34" charset="-122"/>
                <a:cs typeface="Calibri" pitchFamily="34" charset="-120"/>
              </a:rPr>
              <a:t>TRADES</a:t>
            </a:r>
            <a:endParaRPr lang="en-US" sz="950" dirty="0"/>
          </a:p>
        </p:txBody>
      </p:sp>
      <p:sp>
        <p:nvSpPr>
          <p:cNvPr id="9" name="Text 7"/>
          <p:cNvSpPr/>
          <p:nvPr/>
        </p:nvSpPr>
        <p:spPr>
          <a:xfrm>
            <a:off x="640080" y="1600200"/>
            <a:ext cx="7772400" cy="429768"/>
          </a:xfrm>
          <a:prstGeom prst="rect">
            <a:avLst/>
          </a:prstGeom>
          <a:noFill/>
          <a:ln/>
        </p:spPr>
        <p:txBody>
          <a:bodyPr wrap="square" lIns="0" tIns="0" rIns="0" bIns="0" rtlCol="0" anchor="t"/>
          <a:lstStyle/>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Target London tradespeople via Checkatrade (650K+ registered), MyBuilder &amp; Rated People</a:t>
            </a:r>
            <a:endParaRPr lang="en-US" sz="950" dirty="0"/>
          </a:p>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Outreach to trades Facebook Groups &amp; subreddits — parking complaints are endemic there</a:t>
            </a:r>
            <a:endParaRPr lang="en-US" sz="950" dirty="0"/>
          </a:p>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Word-of-mouth flywheel: one tradesperson avoids a fine → colleague downloads the same day</a:t>
            </a:r>
            <a:endParaRPr lang="en-US" sz="950" dirty="0"/>
          </a:p>
        </p:txBody>
      </p:sp>
      <p:sp>
        <p:nvSpPr>
          <p:cNvPr id="10" name="Shape 8"/>
          <p:cNvSpPr/>
          <p:nvPr/>
        </p:nvSpPr>
        <p:spPr>
          <a:xfrm>
            <a:off x="457200" y="2167128"/>
            <a:ext cx="8229600" cy="749808"/>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11" name="Shape 9"/>
          <p:cNvSpPr/>
          <p:nvPr/>
        </p:nvSpPr>
        <p:spPr>
          <a:xfrm>
            <a:off x="457200" y="2167128"/>
            <a:ext cx="50292" cy="749808"/>
          </a:xfrm>
          <a:prstGeom prst="rect">
            <a:avLst/>
          </a:prstGeom>
          <a:solidFill>
            <a:srgbClr val="FFD700"/>
          </a:solidFill>
          <a:ln w="12700">
            <a:solidFill>
              <a:srgbClr val="FFD700"/>
            </a:solidFill>
            <a:prstDash val="solid"/>
          </a:ln>
        </p:spPr>
      </p:sp>
      <p:sp>
        <p:nvSpPr>
          <p:cNvPr id="12" name="Text 10"/>
          <p:cNvSpPr/>
          <p:nvPr/>
        </p:nvSpPr>
        <p:spPr>
          <a:xfrm>
            <a:off x="640080" y="2231136"/>
            <a:ext cx="7772400" cy="201168"/>
          </a:xfrm>
          <a:prstGeom prst="rect">
            <a:avLst/>
          </a:prstGeom>
          <a:noFill/>
          <a:ln/>
        </p:spPr>
        <p:txBody>
          <a:bodyPr wrap="square" lIns="0" tIns="0" rIns="0" bIns="0" rtlCol="0" anchor="ctr"/>
          <a:lstStyle/>
          <a:p>
            <a:pPr indent="0" marL="0">
              <a:buNone/>
            </a:pPr>
            <a:r>
              <a:rPr lang="en-US" sz="950" b="1" spc="200" kern="0" dirty="0">
                <a:solidFill>
                  <a:srgbClr val="FFD700"/>
                </a:solidFill>
                <a:latin typeface="Calibri" pitchFamily="34" charset="0"/>
                <a:ea typeface="Calibri" pitchFamily="34" charset="-122"/>
                <a:cs typeface="Calibri" pitchFamily="34" charset="-120"/>
              </a:rPr>
              <a:t>HEALTHCARE</a:t>
            </a:r>
            <a:endParaRPr lang="en-US" sz="950" dirty="0"/>
          </a:p>
        </p:txBody>
      </p:sp>
      <p:sp>
        <p:nvSpPr>
          <p:cNvPr id="13" name="Text 11"/>
          <p:cNvSpPr/>
          <p:nvPr/>
        </p:nvSpPr>
        <p:spPr>
          <a:xfrm>
            <a:off x="640080" y="2441448"/>
            <a:ext cx="7772400" cy="429768"/>
          </a:xfrm>
          <a:prstGeom prst="rect">
            <a:avLst/>
          </a:prstGeom>
          <a:noFill/>
          <a:ln/>
        </p:spPr>
        <p:txBody>
          <a:bodyPr wrap="square" lIns="0" tIns="0" rIns="0" bIns="0" rtlCol="0" anchor="t"/>
          <a:lstStyle/>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GMB Union, UNISON &amp; RCN each represent hundreds of thousands of NHS workers — ready-made channels</a:t>
            </a:r>
            <a:endParaRPr lang="en-US" sz="950" dirty="0"/>
          </a:p>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NHS trust intranet promotions and staff communications for zero-cost adoption at scale</a:t>
            </a:r>
            <a:endParaRPr lang="en-US" sz="950" dirty="0"/>
          </a:p>
        </p:txBody>
      </p:sp>
      <p:sp>
        <p:nvSpPr>
          <p:cNvPr id="14" name="Shape 12"/>
          <p:cNvSpPr/>
          <p:nvPr/>
        </p:nvSpPr>
        <p:spPr>
          <a:xfrm>
            <a:off x="457200" y="3008376"/>
            <a:ext cx="8229600" cy="749808"/>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15" name="Shape 13"/>
          <p:cNvSpPr/>
          <p:nvPr/>
        </p:nvSpPr>
        <p:spPr>
          <a:xfrm>
            <a:off x="457200" y="3008376"/>
            <a:ext cx="50292" cy="749808"/>
          </a:xfrm>
          <a:prstGeom prst="rect">
            <a:avLst/>
          </a:prstGeom>
          <a:solidFill>
            <a:srgbClr val="FFD700"/>
          </a:solidFill>
          <a:ln w="12700">
            <a:solidFill>
              <a:srgbClr val="FFD700"/>
            </a:solidFill>
            <a:prstDash val="solid"/>
          </a:ln>
        </p:spPr>
      </p:sp>
      <p:sp>
        <p:nvSpPr>
          <p:cNvPr id="16" name="Text 14"/>
          <p:cNvSpPr/>
          <p:nvPr/>
        </p:nvSpPr>
        <p:spPr>
          <a:xfrm>
            <a:off x="640080" y="3072384"/>
            <a:ext cx="7772400" cy="201168"/>
          </a:xfrm>
          <a:prstGeom prst="rect">
            <a:avLst/>
          </a:prstGeom>
          <a:noFill/>
          <a:ln/>
        </p:spPr>
        <p:txBody>
          <a:bodyPr wrap="square" lIns="0" tIns="0" rIns="0" bIns="0" rtlCol="0" anchor="ctr"/>
          <a:lstStyle/>
          <a:p>
            <a:pPr indent="0" marL="0">
              <a:buNone/>
            </a:pPr>
            <a:r>
              <a:rPr lang="en-US" sz="950" b="1" spc="200" kern="0" dirty="0">
                <a:solidFill>
                  <a:srgbClr val="FFD700"/>
                </a:solidFill>
                <a:latin typeface="Calibri" pitchFamily="34" charset="0"/>
                <a:ea typeface="Calibri" pitchFamily="34" charset="-122"/>
                <a:cs typeface="Calibri" pitchFamily="34" charset="-120"/>
              </a:rPr>
              <a:t>DELIVERY DRIVERS</a:t>
            </a:r>
            <a:endParaRPr lang="en-US" sz="950" dirty="0"/>
          </a:p>
        </p:txBody>
      </p:sp>
      <p:sp>
        <p:nvSpPr>
          <p:cNvPr id="17" name="Text 15"/>
          <p:cNvSpPr/>
          <p:nvPr/>
        </p:nvSpPr>
        <p:spPr>
          <a:xfrm>
            <a:off x="640080" y="3282696"/>
            <a:ext cx="7772400" cy="429768"/>
          </a:xfrm>
          <a:prstGeom prst="rect">
            <a:avLst/>
          </a:prstGeom>
          <a:noFill/>
          <a:ln/>
        </p:spPr>
        <p:txBody>
          <a:bodyPr wrap="square" lIns="0" tIns="0" rIns="0" bIns="0" rtlCol="0" anchor="t"/>
          <a:lstStyle/>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Evri (28K couriers), Amazon Flex, DPD — driver communities on Facebook &amp; Reddit spread fast</a:t>
            </a:r>
            <a:endParaRPr lang="en-US" sz="950" dirty="0"/>
          </a:p>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B2B fleet pricing: trade companies with 10+ vans on group accounts at £20–50/month</a:t>
            </a:r>
            <a:endParaRPr lang="en-US" sz="950" dirty="0"/>
          </a:p>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International scoping — parking enforcement is a universal problem in every major city globally</a:t>
            </a:r>
            <a:endParaRPr lang="en-US" sz="950" dirty="0"/>
          </a:p>
        </p:txBody>
      </p:sp>
      <p:sp>
        <p:nvSpPr>
          <p:cNvPr id="18" name="Shape 16"/>
          <p:cNvSpPr/>
          <p:nvPr/>
        </p:nvSpPr>
        <p:spPr>
          <a:xfrm>
            <a:off x="457200" y="3849624"/>
            <a:ext cx="8229600" cy="749808"/>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19" name="Shape 17"/>
          <p:cNvSpPr/>
          <p:nvPr/>
        </p:nvSpPr>
        <p:spPr>
          <a:xfrm>
            <a:off x="457200" y="3849624"/>
            <a:ext cx="50292" cy="749808"/>
          </a:xfrm>
          <a:prstGeom prst="rect">
            <a:avLst/>
          </a:prstGeom>
          <a:solidFill>
            <a:srgbClr val="FFD700"/>
          </a:solidFill>
          <a:ln w="12700">
            <a:solidFill>
              <a:srgbClr val="FFD700"/>
            </a:solidFill>
            <a:prstDash val="solid"/>
          </a:ln>
        </p:spPr>
      </p:sp>
      <p:sp>
        <p:nvSpPr>
          <p:cNvPr id="20" name="Text 18"/>
          <p:cNvSpPr/>
          <p:nvPr/>
        </p:nvSpPr>
        <p:spPr>
          <a:xfrm>
            <a:off x="640080" y="3913632"/>
            <a:ext cx="7772400" cy="201168"/>
          </a:xfrm>
          <a:prstGeom prst="rect">
            <a:avLst/>
          </a:prstGeom>
          <a:noFill/>
          <a:ln/>
        </p:spPr>
        <p:txBody>
          <a:bodyPr wrap="square" lIns="0" tIns="0" rIns="0" bIns="0" rtlCol="0" anchor="ctr"/>
          <a:lstStyle/>
          <a:p>
            <a:pPr indent="0" marL="0">
              <a:buNone/>
            </a:pPr>
            <a:r>
              <a:rPr lang="en-US" sz="950" b="1" spc="200" kern="0" dirty="0">
                <a:solidFill>
                  <a:srgbClr val="FFD700"/>
                </a:solidFill>
                <a:latin typeface="Calibri" pitchFamily="34" charset="0"/>
                <a:ea typeface="Calibri" pitchFamily="34" charset="-122"/>
                <a:cs typeface="Calibri" pitchFamily="34" charset="-120"/>
              </a:rPr>
              <a:t>SOCIAL MEDIA</a:t>
            </a:r>
            <a:endParaRPr lang="en-US" sz="950" dirty="0"/>
          </a:p>
        </p:txBody>
      </p:sp>
      <p:sp>
        <p:nvSpPr>
          <p:cNvPr id="21" name="Text 19"/>
          <p:cNvSpPr/>
          <p:nvPr/>
        </p:nvSpPr>
        <p:spPr>
          <a:xfrm>
            <a:off x="640080" y="4123944"/>
            <a:ext cx="7772400" cy="429768"/>
          </a:xfrm>
          <a:prstGeom prst="rect">
            <a:avLst/>
          </a:prstGeom>
          <a:noFill/>
          <a:ln/>
        </p:spPr>
        <p:txBody>
          <a:bodyPr wrap="square" lIns="0" tIns="0" rIns="0" bIns="0" rtlCol="0" anchor="t"/>
          <a:lstStyle/>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Instagram, TikTok, Facebook, Twitter — short videos &amp; stunts to drive engagement and downloads</a:t>
            </a:r>
            <a:endParaRPr lang="en-US" sz="950" dirty="0"/>
          </a:p>
          <a:p>
            <a:pPr marL="342900" indent="-342900">
              <a:buSzPct val="100000"/>
              <a:buChar char="•"/>
            </a:pPr>
            <a:r>
              <a:rPr lang="en-US" sz="950" dirty="0">
                <a:solidFill>
                  <a:srgbClr val="FFFFFF"/>
                </a:solidFill>
                <a:latin typeface="Calibri" pitchFamily="34" charset="0"/>
                <a:ea typeface="Calibri" pitchFamily="34" charset="-122"/>
                <a:cs typeface="Calibri" pitchFamily="34" charset="-120"/>
              </a:rPr>
              <a:t>Channel collabs with trade &amp; lifestyle creators — On The Tools and similar communities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D700"/>
          </a:solidFill>
          <a:ln w="12700">
            <a:solidFill>
              <a:srgbClr val="FFD700"/>
            </a:solidFill>
            <a:prstDash val="solid"/>
          </a:ln>
        </p:spPr>
      </p:sp>
      <p:sp>
        <p:nvSpPr>
          <p:cNvPr id="3" name="Shape 1"/>
          <p:cNvSpPr/>
          <p:nvPr/>
        </p:nvSpPr>
        <p:spPr>
          <a:xfrm>
            <a:off x="0" y="5079492"/>
            <a:ext cx="9144000" cy="64008"/>
          </a:xfrm>
          <a:prstGeom prst="rect">
            <a:avLst/>
          </a:prstGeom>
          <a:solidFill>
            <a:srgbClr val="FFD700"/>
          </a:solidFill>
          <a:ln w="12700">
            <a:solidFill>
              <a:srgbClr val="FFD700"/>
            </a:solidFill>
            <a:prstDash val="solid"/>
          </a:ln>
        </p:spPr>
      </p:sp>
      <p:sp>
        <p:nvSpPr>
          <p:cNvPr id="4" name="Text 2"/>
          <p:cNvSpPr/>
          <p:nvPr/>
        </p:nvSpPr>
        <p:spPr>
          <a:xfrm>
            <a:off x="4572000" y="201168"/>
            <a:ext cx="4206240" cy="256032"/>
          </a:xfrm>
          <a:prstGeom prst="rect">
            <a:avLst/>
          </a:prstGeom>
          <a:noFill/>
          <a:ln/>
        </p:spPr>
        <p:txBody>
          <a:bodyPr wrap="square" lIns="0" tIns="0" rIns="0" bIns="0" rtlCol="0" anchor="ctr"/>
          <a:lstStyle/>
          <a:p>
            <a:pPr algn="r" indent="0" marL="0">
              <a:buNone/>
            </a:pPr>
            <a:r>
              <a:rPr lang="en-US" sz="900" b="1" spc="400" kern="0" dirty="0">
                <a:solidFill>
                  <a:srgbClr val="FFD700"/>
                </a:solidFill>
                <a:latin typeface="Calibri" pitchFamily="34" charset="0"/>
                <a:ea typeface="Calibri" pitchFamily="34" charset="-122"/>
                <a:cs typeface="Calibri" pitchFamily="34" charset="-120"/>
              </a:rPr>
              <a:t>TEAM</a:t>
            </a:r>
            <a:endParaRPr lang="en-US" sz="900" dirty="0"/>
          </a:p>
        </p:txBody>
      </p:sp>
      <p:sp>
        <p:nvSpPr>
          <p:cNvPr id="5" name="Text 3"/>
          <p:cNvSpPr/>
          <p:nvPr/>
        </p:nvSpPr>
        <p:spPr>
          <a:xfrm>
            <a:off x="548640" y="274320"/>
            <a:ext cx="8046720" cy="841248"/>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Creative Vision. Expertise.
</a:t>
            </a:r>
            <a:pPr indent="0" marL="0">
              <a:buNone/>
            </a:pPr>
            <a:r>
              <a:rPr lang="en-US" sz="2600" b="1" dirty="0">
                <a:solidFill>
                  <a:srgbClr val="FFD700"/>
                </a:solidFill>
                <a:latin typeface="Arial Black" pitchFamily="34" charset="0"/>
                <a:ea typeface="Arial Black" pitchFamily="34" charset="-122"/>
                <a:cs typeface="Arial Black" pitchFamily="34" charset="-120"/>
              </a:rPr>
              <a:t>Meet the team.</a:t>
            </a:r>
            <a:endParaRPr lang="en-US" sz="2600" dirty="0"/>
          </a:p>
        </p:txBody>
      </p:sp>
      <p:sp>
        <p:nvSpPr>
          <p:cNvPr id="6" name="Shape 4"/>
          <p:cNvSpPr/>
          <p:nvPr/>
        </p:nvSpPr>
        <p:spPr>
          <a:xfrm>
            <a:off x="457200" y="1234440"/>
            <a:ext cx="5029200" cy="2816352"/>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7" name="Shape 5"/>
          <p:cNvSpPr/>
          <p:nvPr/>
        </p:nvSpPr>
        <p:spPr>
          <a:xfrm>
            <a:off x="658368" y="1389888"/>
            <a:ext cx="566928" cy="566928"/>
          </a:xfrm>
          <a:prstGeom prst="ellipse">
            <a:avLst/>
          </a:prstGeom>
          <a:solidFill>
            <a:srgbClr val="222222"/>
          </a:solidFill>
          <a:ln w="25400">
            <a:solidFill>
              <a:srgbClr val="FFD700"/>
            </a:solidFill>
            <a:prstDash val="solid"/>
          </a:ln>
        </p:spPr>
      </p:sp>
      <p:sp>
        <p:nvSpPr>
          <p:cNvPr id="8" name="Text 6"/>
          <p:cNvSpPr/>
          <p:nvPr/>
        </p:nvSpPr>
        <p:spPr>
          <a:xfrm>
            <a:off x="658368" y="1408176"/>
            <a:ext cx="566928" cy="521208"/>
          </a:xfrm>
          <a:prstGeom prst="rect">
            <a:avLst/>
          </a:prstGeom>
          <a:noFill/>
          <a:ln/>
        </p:spPr>
        <p:txBody>
          <a:bodyPr wrap="square" lIns="0" tIns="0" rIns="0" bIns="0" rtlCol="0" anchor="ctr"/>
          <a:lstStyle/>
          <a:p>
            <a:pPr algn="ctr" indent="0" marL="0">
              <a:buNone/>
            </a:pPr>
            <a:r>
              <a:rPr lang="en-US" sz="1800" b="1" dirty="0">
                <a:solidFill>
                  <a:srgbClr val="FFD700"/>
                </a:solidFill>
                <a:latin typeface="Arial Black" pitchFamily="34" charset="0"/>
                <a:ea typeface="Arial Black" pitchFamily="34" charset="-122"/>
                <a:cs typeface="Arial Black" pitchFamily="34" charset="-120"/>
              </a:rPr>
              <a:t>T</a:t>
            </a:r>
            <a:endParaRPr lang="en-US" sz="1800" dirty="0"/>
          </a:p>
        </p:txBody>
      </p:sp>
      <p:sp>
        <p:nvSpPr>
          <p:cNvPr id="9" name="Text 7"/>
          <p:cNvSpPr/>
          <p:nvPr/>
        </p:nvSpPr>
        <p:spPr>
          <a:xfrm>
            <a:off x="1325880" y="1389888"/>
            <a:ext cx="3977640" cy="201168"/>
          </a:xfrm>
          <a:prstGeom prst="rect">
            <a:avLst/>
          </a:prstGeom>
          <a:noFill/>
          <a:ln/>
        </p:spPr>
        <p:txBody>
          <a:bodyPr wrap="square" lIns="0" tIns="0" rIns="0" bIns="0" rtlCol="0" anchor="ctr"/>
          <a:lstStyle/>
          <a:p>
            <a:pPr indent="0" marL="0">
              <a:buNone/>
            </a:pPr>
            <a:r>
              <a:rPr lang="en-US" sz="900" b="1" spc="200" kern="0" dirty="0">
                <a:solidFill>
                  <a:srgbClr val="FFD700"/>
                </a:solidFill>
                <a:latin typeface="Calibri" pitchFamily="34" charset="0"/>
                <a:ea typeface="Calibri" pitchFamily="34" charset="-122"/>
                <a:cs typeface="Calibri" pitchFamily="34" charset="-120"/>
              </a:rPr>
              <a:t>FOUNDER &amp; CEO</a:t>
            </a:r>
            <a:endParaRPr lang="en-US" sz="900" dirty="0"/>
          </a:p>
        </p:txBody>
      </p:sp>
      <p:sp>
        <p:nvSpPr>
          <p:cNvPr id="10" name="Text 8"/>
          <p:cNvSpPr/>
          <p:nvPr/>
        </p:nvSpPr>
        <p:spPr>
          <a:xfrm>
            <a:off x="1325880" y="1581912"/>
            <a:ext cx="3977640" cy="347472"/>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Toby Laurence</a:t>
            </a:r>
            <a:endParaRPr lang="en-US" sz="2200" dirty="0"/>
          </a:p>
        </p:txBody>
      </p:sp>
      <p:sp>
        <p:nvSpPr>
          <p:cNvPr id="11" name="Text 9"/>
          <p:cNvSpPr/>
          <p:nvPr/>
        </p:nvSpPr>
        <p:spPr>
          <a:xfrm>
            <a:off x="1325880" y="1938528"/>
            <a:ext cx="3977640" cy="274320"/>
          </a:xfrm>
          <a:prstGeom prst="rect">
            <a:avLst/>
          </a:prstGeom>
          <a:noFill/>
          <a:ln/>
        </p:spPr>
        <p:txBody>
          <a:bodyPr wrap="square" lIns="0" tIns="0" rIns="0" bIns="0" rtlCol="0" anchor="ctr"/>
          <a:lstStyle/>
          <a:p>
            <a:pPr indent="0" marL="0">
              <a:buNone/>
            </a:pPr>
            <a:r>
              <a:rPr lang="en-US" sz="900" i="1" dirty="0">
                <a:solidFill>
                  <a:srgbClr val="FFD700"/>
                </a:solidFill>
                <a:latin typeface="Calibri" pitchFamily="34" charset="0"/>
                <a:ea typeface="Calibri" pitchFamily="34" charset="-122"/>
                <a:cs typeface="Calibri" pitchFamily="34" charset="-120"/>
              </a:rPr>
              <a:t>Actor (BBC Radio 4's The Archers) · Founder &amp; Director, Plucky Films · Developer, Double Yellow</a:t>
            </a:r>
            <a:endParaRPr lang="en-US" sz="900" dirty="0"/>
          </a:p>
        </p:txBody>
      </p:sp>
      <p:sp>
        <p:nvSpPr>
          <p:cNvPr id="12" name="Text 10"/>
          <p:cNvSpPr/>
          <p:nvPr/>
        </p:nvSpPr>
        <p:spPr>
          <a:xfrm>
            <a:off x="658368" y="2286000"/>
            <a:ext cx="4663440" cy="1554480"/>
          </a:xfrm>
          <a:prstGeom prst="rect">
            <a:avLst/>
          </a:prstGeom>
          <a:noFill/>
          <a:ln/>
        </p:spPr>
        <p:txBody>
          <a:bodyPr wrap="square" lIns="0" tIns="0" rIns="0" bIns="0" rtlCol="0" anchor="t"/>
          <a:lstStyle/>
          <a:p>
            <a:pPr indent="0" marL="0">
              <a:buNone/>
            </a:pPr>
            <a:r>
              <a:rPr lang="en-US" sz="950" dirty="0">
                <a:solidFill>
                  <a:srgbClr val="888888"/>
                </a:solidFill>
                <a:latin typeface="Calibri" pitchFamily="34" charset="0"/>
                <a:ea typeface="Calibri" pitchFamily="34" charset="-122"/>
                <a:cs typeface="Calibri" pitchFamily="34" charset="-120"/>
              </a:rPr>
              <a:t>With over 10 years as a professional actor — including BBC Radio 4's The Archers — and a career directing and producing video content for brands and businesses, Toby brings a genuine creative instinct to every problem he tackles. As a business owner with a young family, he's felt firsthand the financial sting of unexpected fines and costs, especially during uncertain times. That personal experience is what drives him: getting Double Yellow to market and genuinely saving people money is an all-consuming passion.</a:t>
            </a:r>
            <a:endParaRPr lang="en-US" sz="950" dirty="0"/>
          </a:p>
        </p:txBody>
      </p:sp>
      <p:sp>
        <p:nvSpPr>
          <p:cNvPr id="13" name="Text 11"/>
          <p:cNvSpPr/>
          <p:nvPr/>
        </p:nvSpPr>
        <p:spPr>
          <a:xfrm>
            <a:off x="658368" y="3858768"/>
            <a:ext cx="4663440" cy="164592"/>
          </a:xfrm>
          <a:prstGeom prst="rect">
            <a:avLst/>
          </a:prstGeom>
          <a:noFill/>
          <a:ln/>
        </p:spPr>
        <p:txBody>
          <a:bodyPr wrap="square" lIns="0" tIns="0" rIns="0" bIns="0" rtlCol="0" anchor="ctr"/>
          <a:lstStyle/>
          <a:p>
            <a:pPr indent="0" marL="0">
              <a:buNone/>
            </a:pPr>
            <a:r>
              <a:rPr lang="en-US" sz="900" dirty="0">
                <a:solidFill>
                  <a:srgbClr val="FFD700"/>
                </a:solidFill>
                <a:latin typeface="Calibri" pitchFamily="34" charset="0"/>
                <a:ea typeface="Calibri" pitchFamily="34" charset="-122"/>
                <a:cs typeface="Calibri" pitchFamily="34" charset="-120"/>
              </a:rPr>
              <a:t>toby@pluckyfilms.co.uk</a:t>
            </a:r>
            <a:endParaRPr lang="en-US" sz="900" dirty="0"/>
          </a:p>
        </p:txBody>
      </p:sp>
      <p:sp>
        <p:nvSpPr>
          <p:cNvPr id="14" name="Shape 12"/>
          <p:cNvSpPr/>
          <p:nvPr/>
        </p:nvSpPr>
        <p:spPr>
          <a:xfrm>
            <a:off x="5669280" y="1234440"/>
            <a:ext cx="3017520" cy="2816352"/>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15" name="Shape 13"/>
          <p:cNvSpPr/>
          <p:nvPr/>
        </p:nvSpPr>
        <p:spPr>
          <a:xfrm>
            <a:off x="5833872" y="1389888"/>
            <a:ext cx="566928" cy="566928"/>
          </a:xfrm>
          <a:prstGeom prst="ellipse">
            <a:avLst/>
          </a:prstGeom>
          <a:solidFill>
            <a:srgbClr val="222222"/>
          </a:solidFill>
          <a:ln w="25400">
            <a:solidFill>
              <a:srgbClr val="FFD700"/>
            </a:solidFill>
            <a:prstDash val="solid"/>
          </a:ln>
        </p:spPr>
      </p:sp>
      <p:sp>
        <p:nvSpPr>
          <p:cNvPr id="16" name="Text 14"/>
          <p:cNvSpPr/>
          <p:nvPr/>
        </p:nvSpPr>
        <p:spPr>
          <a:xfrm>
            <a:off x="5833872" y="1408176"/>
            <a:ext cx="566928" cy="521208"/>
          </a:xfrm>
          <a:prstGeom prst="rect">
            <a:avLst/>
          </a:prstGeom>
          <a:noFill/>
          <a:ln/>
        </p:spPr>
        <p:txBody>
          <a:bodyPr wrap="square" lIns="0" tIns="0" rIns="0" bIns="0" rtlCol="0" anchor="ctr"/>
          <a:lstStyle/>
          <a:p>
            <a:pPr algn="ctr" indent="0" marL="0">
              <a:buNone/>
            </a:pPr>
            <a:r>
              <a:rPr lang="en-US" sz="1800" b="1" dirty="0">
                <a:solidFill>
                  <a:srgbClr val="FFD700"/>
                </a:solidFill>
                <a:latin typeface="Arial Black" pitchFamily="34" charset="0"/>
                <a:ea typeface="Arial Black" pitchFamily="34" charset="-122"/>
                <a:cs typeface="Arial Black" pitchFamily="34" charset="-120"/>
              </a:rPr>
              <a:t>C</a:t>
            </a:r>
            <a:endParaRPr lang="en-US" sz="1800" dirty="0"/>
          </a:p>
        </p:txBody>
      </p:sp>
      <p:sp>
        <p:nvSpPr>
          <p:cNvPr id="17" name="Text 15"/>
          <p:cNvSpPr/>
          <p:nvPr/>
        </p:nvSpPr>
        <p:spPr>
          <a:xfrm>
            <a:off x="6510528" y="1389888"/>
            <a:ext cx="2039112" cy="201168"/>
          </a:xfrm>
          <a:prstGeom prst="rect">
            <a:avLst/>
          </a:prstGeom>
          <a:noFill/>
          <a:ln/>
        </p:spPr>
        <p:txBody>
          <a:bodyPr wrap="square" lIns="0" tIns="0" rIns="0" bIns="0" rtlCol="0" anchor="ctr"/>
          <a:lstStyle/>
          <a:p>
            <a:pPr indent="0" marL="0">
              <a:buNone/>
            </a:pPr>
            <a:r>
              <a:rPr lang="en-US" sz="800" b="1" spc="200" kern="0" dirty="0">
                <a:solidFill>
                  <a:srgbClr val="FFD700"/>
                </a:solidFill>
                <a:latin typeface="Calibri" pitchFamily="34" charset="0"/>
                <a:ea typeface="Calibri" pitchFamily="34" charset="-122"/>
                <a:cs typeface="Calibri" pitchFamily="34" charset="-120"/>
              </a:rPr>
              <a:t>CONSULTANT DEVELOPER</a:t>
            </a:r>
            <a:endParaRPr lang="en-US" sz="800" dirty="0"/>
          </a:p>
        </p:txBody>
      </p:sp>
      <p:sp>
        <p:nvSpPr>
          <p:cNvPr id="18" name="Text 16"/>
          <p:cNvSpPr/>
          <p:nvPr/>
        </p:nvSpPr>
        <p:spPr>
          <a:xfrm>
            <a:off x="6510528" y="1581912"/>
            <a:ext cx="2039112" cy="347472"/>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Chris Smith</a:t>
            </a:r>
            <a:endParaRPr lang="en-US" sz="2200" dirty="0"/>
          </a:p>
        </p:txBody>
      </p:sp>
      <p:sp>
        <p:nvSpPr>
          <p:cNvPr id="19" name="Text 17"/>
          <p:cNvSpPr/>
          <p:nvPr/>
        </p:nvSpPr>
        <p:spPr>
          <a:xfrm>
            <a:off x="6510528" y="1947672"/>
            <a:ext cx="2039112" cy="274320"/>
          </a:xfrm>
          <a:prstGeom prst="rect">
            <a:avLst/>
          </a:prstGeom>
          <a:noFill/>
          <a:ln/>
        </p:spPr>
        <p:txBody>
          <a:bodyPr wrap="square" lIns="0" tIns="0" rIns="0" bIns="0" rtlCol="0" anchor="ctr"/>
          <a:lstStyle/>
          <a:p>
            <a:pPr indent="0" marL="0">
              <a:buNone/>
            </a:pPr>
            <a:r>
              <a:rPr lang="en-US" sz="900" i="1" dirty="0">
                <a:solidFill>
                  <a:srgbClr val="FFD700"/>
                </a:solidFill>
                <a:latin typeface="Calibri" pitchFamily="34" charset="0"/>
                <a:ea typeface="Calibri" pitchFamily="34" charset="-122"/>
                <a:cs typeface="Calibri" pitchFamily="34" charset="-120"/>
              </a:rPr>
              <a:t>Lead Data Engineer, Lockwood Publishing · ex-Experian · Improve Digital · Proxama</a:t>
            </a:r>
            <a:endParaRPr lang="en-US" sz="900" dirty="0"/>
          </a:p>
        </p:txBody>
      </p:sp>
      <p:sp>
        <p:nvSpPr>
          <p:cNvPr id="20" name="Text 18"/>
          <p:cNvSpPr/>
          <p:nvPr/>
        </p:nvSpPr>
        <p:spPr>
          <a:xfrm>
            <a:off x="5833872" y="2286000"/>
            <a:ext cx="2697480" cy="1572768"/>
          </a:xfrm>
          <a:prstGeom prst="rect">
            <a:avLst/>
          </a:prstGeom>
          <a:noFill/>
          <a:ln/>
        </p:spPr>
        <p:txBody>
          <a:bodyPr wrap="square" lIns="0" tIns="0" rIns="0" bIns="0" rtlCol="0" anchor="t"/>
          <a:lstStyle/>
          <a:p>
            <a:pPr indent="0" marL="0">
              <a:buNone/>
            </a:pPr>
            <a:r>
              <a:rPr lang="en-US" sz="950" dirty="0">
                <a:solidFill>
                  <a:srgbClr val="888888"/>
                </a:solidFill>
                <a:latin typeface="Calibri" pitchFamily="34" charset="0"/>
                <a:ea typeface="Calibri" pitchFamily="34" charset="-122"/>
                <a:cs typeface="Calibri" pitchFamily="34" charset="-120"/>
              </a:rPr>
              <a:t>Chris brings over a decade of hands-on experience building and scaling data systems at major organisations including Experian, Improve Digital, and Proxama. Now Lead Data Engineer at Lockwood Publishing, he has deep expertise in cloud architecture, backend engineering, and delivering robust platforms that perform under pressure.</a:t>
            </a:r>
            <a:endParaRPr lang="en-US" sz="950" dirty="0"/>
          </a:p>
          <a:p>
            <a:pPr indent="0" marL="0">
              <a:buNone/>
            </a:pPr>
            <a:endParaRPr lang="en-US" sz="950" dirty="0"/>
          </a:p>
          <a:p>
            <a:pPr indent="0" marL="0">
              <a:buNone/>
            </a:pPr>
            <a:r>
              <a:rPr lang="en-US" sz="950" dirty="0">
                <a:solidFill>
                  <a:srgbClr val="888888"/>
                </a:solidFill>
                <a:latin typeface="Calibri" pitchFamily="34" charset="0"/>
                <a:ea typeface="Calibri" pitchFamily="34" charset="-122"/>
                <a:cs typeface="Calibri" pitchFamily="34" charset="-120"/>
              </a:rPr>
              <a:t>Chris provides the engineering rigour behind Double Yellow — ensuring the platform is built to last, built to scale, and ready for whatever growth looks like.</a:t>
            </a:r>
            <a:endParaRPr lang="en-US" sz="950" dirty="0"/>
          </a:p>
        </p:txBody>
      </p:sp>
      <p:sp>
        <p:nvSpPr>
          <p:cNvPr id="21" name="Text 19"/>
          <p:cNvSpPr/>
          <p:nvPr/>
        </p:nvSpPr>
        <p:spPr>
          <a:xfrm>
            <a:off x="457200" y="4114800"/>
            <a:ext cx="8229600" cy="256032"/>
          </a:xfrm>
          <a:prstGeom prst="rect">
            <a:avLst/>
          </a:prstGeom>
          <a:noFill/>
          <a:ln/>
        </p:spPr>
        <p:txBody>
          <a:bodyPr wrap="square" lIns="0" tIns="0" rIns="0" bIns="0" rtlCol="0" anchor="ctr"/>
          <a:lstStyle/>
          <a:p>
            <a:pPr indent="0" marL="0">
              <a:buNone/>
            </a:pPr>
            <a:r>
              <a:rPr lang="en-US" sz="900" i="1" dirty="0">
                <a:solidFill>
                  <a:srgbClr val="888888"/>
                </a:solidFill>
                <a:latin typeface="Calibri" pitchFamily="34" charset="0"/>
                <a:ea typeface="Calibri" pitchFamily="34" charset="-122"/>
                <a:cs typeface="Calibri" pitchFamily="34" charset="-120"/>
              </a:rPr>
              <a:t>Open to first senior hire (Head of Growth or CTO) once funded. Advisors with sector expertise always welcome.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FD700"/>
          </a:solidFill>
          <a:ln w="12700">
            <a:solidFill>
              <a:srgbClr val="FFD700"/>
            </a:solidFill>
            <a:prstDash val="solid"/>
          </a:ln>
        </p:spPr>
      </p:sp>
      <p:sp>
        <p:nvSpPr>
          <p:cNvPr id="3" name="Shape 1"/>
          <p:cNvSpPr/>
          <p:nvPr/>
        </p:nvSpPr>
        <p:spPr>
          <a:xfrm>
            <a:off x="0" y="5079492"/>
            <a:ext cx="9144000" cy="64008"/>
          </a:xfrm>
          <a:prstGeom prst="rect">
            <a:avLst/>
          </a:prstGeom>
          <a:solidFill>
            <a:srgbClr val="FFD700"/>
          </a:solidFill>
          <a:ln w="12700">
            <a:solidFill>
              <a:srgbClr val="FFD700"/>
            </a:solidFill>
            <a:prstDash val="solid"/>
          </a:ln>
        </p:spPr>
      </p:sp>
      <p:sp>
        <p:nvSpPr>
          <p:cNvPr id="4" name="Text 2"/>
          <p:cNvSpPr/>
          <p:nvPr/>
        </p:nvSpPr>
        <p:spPr>
          <a:xfrm>
            <a:off x="4572000" y="201168"/>
            <a:ext cx="4206240" cy="256032"/>
          </a:xfrm>
          <a:prstGeom prst="rect">
            <a:avLst/>
          </a:prstGeom>
          <a:noFill/>
          <a:ln/>
        </p:spPr>
        <p:txBody>
          <a:bodyPr wrap="square" lIns="0" tIns="0" rIns="0" bIns="0" rtlCol="0" anchor="ctr"/>
          <a:lstStyle/>
          <a:p>
            <a:pPr algn="r" indent="0" marL="0">
              <a:buNone/>
            </a:pPr>
            <a:r>
              <a:rPr lang="en-US" sz="900" b="1" spc="400" kern="0" dirty="0">
                <a:solidFill>
                  <a:srgbClr val="FFD700"/>
                </a:solidFill>
                <a:latin typeface="Calibri" pitchFamily="34" charset="0"/>
                <a:ea typeface="Calibri" pitchFamily="34" charset="-122"/>
                <a:cs typeface="Calibri" pitchFamily="34" charset="-120"/>
              </a:rPr>
              <a:t>THE ASK</a:t>
            </a:r>
            <a:endParaRPr lang="en-US" sz="900" dirty="0"/>
          </a:p>
        </p:txBody>
      </p:sp>
      <p:sp>
        <p:nvSpPr>
          <p:cNvPr id="5" name="Text 3"/>
          <p:cNvSpPr/>
          <p:nvPr/>
        </p:nvSpPr>
        <p:spPr>
          <a:xfrm>
            <a:off x="548640" y="457200"/>
            <a:ext cx="8046720" cy="59436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Seed round to launch, validate, and scale.</a:t>
            </a:r>
            <a:endParaRPr lang="en-US" sz="2600" dirty="0"/>
          </a:p>
        </p:txBody>
      </p:sp>
      <p:sp>
        <p:nvSpPr>
          <p:cNvPr id="6" name="Shape 4"/>
          <p:cNvSpPr/>
          <p:nvPr/>
        </p:nvSpPr>
        <p:spPr>
          <a:xfrm>
            <a:off x="457200" y="1170432"/>
            <a:ext cx="8229600" cy="1325880"/>
          </a:xfrm>
          <a:prstGeom prst="rect">
            <a:avLst/>
          </a:prstGeom>
          <a:solidFill>
            <a:srgbClr val="1A1A1A"/>
          </a:solidFill>
          <a:ln w="12700">
            <a:solidFill>
              <a:srgbClr val="333333"/>
            </a:solidFill>
            <a:prstDash val="solid"/>
          </a:ln>
          <a:effectLst>
            <a:outerShdw sx="100000" sy="100000" kx="0" ky="0" algn="bl" rotWithShape="0" blurRad="101600" dist="25400" dir="8100000">
              <a:srgbClr val="000000">
                <a:alpha val="30000"/>
              </a:srgbClr>
            </a:outerShdw>
          </a:effectLst>
        </p:spPr>
      </p:sp>
      <p:sp>
        <p:nvSpPr>
          <p:cNvPr id="7" name="Text 5"/>
          <p:cNvSpPr/>
          <p:nvPr/>
        </p:nvSpPr>
        <p:spPr>
          <a:xfrm>
            <a:off x="777240" y="1261872"/>
            <a:ext cx="4572000" cy="914400"/>
          </a:xfrm>
          <a:prstGeom prst="rect">
            <a:avLst/>
          </a:prstGeom>
          <a:noFill/>
          <a:ln/>
        </p:spPr>
        <p:txBody>
          <a:bodyPr wrap="square" lIns="0" tIns="0" rIns="0" bIns="0" rtlCol="0" anchor="ctr"/>
          <a:lstStyle/>
          <a:p>
            <a:pPr indent="0" marL="0">
              <a:buNone/>
            </a:pPr>
            <a:r>
              <a:rPr lang="en-US" sz="5600" b="1" dirty="0">
                <a:solidFill>
                  <a:srgbClr val="FFD700"/>
                </a:solidFill>
                <a:latin typeface="Arial Black" pitchFamily="34" charset="0"/>
                <a:ea typeface="Arial Black" pitchFamily="34" charset="-122"/>
                <a:cs typeface="Arial Black" pitchFamily="34" charset="-120"/>
              </a:rPr>
              <a:t>£150,000</a:t>
            </a:r>
            <a:endParaRPr lang="en-US" sz="5600" dirty="0"/>
          </a:p>
        </p:txBody>
      </p:sp>
      <p:sp>
        <p:nvSpPr>
          <p:cNvPr id="8" name="Text 6"/>
          <p:cNvSpPr/>
          <p:nvPr/>
        </p:nvSpPr>
        <p:spPr>
          <a:xfrm>
            <a:off x="5303520" y="1444752"/>
            <a:ext cx="3200400" cy="685800"/>
          </a:xfrm>
          <a:prstGeom prst="rect">
            <a:avLst/>
          </a:prstGeom>
          <a:noFill/>
          <a:ln/>
        </p:spPr>
        <p:txBody>
          <a:bodyPr wrap="square" lIns="0" tIns="0" rIns="0" bIns="0" rtlCol="0" anchor="ctr"/>
          <a:lstStyle/>
          <a:p>
            <a:pPr indent="0" marL="0">
              <a:buNone/>
            </a:pPr>
            <a:r>
              <a:rPr lang="en-US" sz="1200" i="1" dirty="0">
                <a:solidFill>
                  <a:srgbClr val="888888"/>
                </a:solidFill>
                <a:latin typeface="Calibri" pitchFamily="34" charset="0"/>
                <a:ea typeface="Calibri" pitchFamily="34" charset="-122"/>
                <a:cs typeface="Calibri" pitchFamily="34" charset="-120"/>
              </a:rPr>
              <a:t>Angel seed round</a:t>
            </a:r>
            <a:endParaRPr lang="en-US" sz="1200" dirty="0"/>
          </a:p>
          <a:p>
            <a:pPr indent="0" marL="0">
              <a:buNone/>
            </a:pPr>
            <a:r>
              <a:rPr lang="en-US" sz="1200" i="1" dirty="0">
                <a:solidFill>
                  <a:srgbClr val="888888"/>
                </a:solidFill>
                <a:latin typeface="Calibri" pitchFamily="34" charset="0"/>
                <a:ea typeface="Calibri" pitchFamily="34" charset="-122"/>
                <a:cs typeface="Calibri" pitchFamily="34" charset="-120"/>
              </a:rPr>
              <a:t>10% equity  ·  £1.35M pre-money valuation</a:t>
            </a:r>
            <a:endParaRPr lang="en-US" sz="1200" dirty="0"/>
          </a:p>
        </p:txBody>
      </p:sp>
      <p:sp>
        <p:nvSpPr>
          <p:cNvPr id="9" name="Text 7"/>
          <p:cNvSpPr/>
          <p:nvPr/>
        </p:nvSpPr>
        <p:spPr>
          <a:xfrm>
            <a:off x="548640" y="2633472"/>
            <a:ext cx="3657600" cy="256032"/>
          </a:xfrm>
          <a:prstGeom prst="rect">
            <a:avLst/>
          </a:prstGeom>
          <a:noFill/>
          <a:ln/>
        </p:spPr>
        <p:txBody>
          <a:bodyPr wrap="square" lIns="0" tIns="0" rIns="0" bIns="0" rtlCol="0" anchor="ctr"/>
          <a:lstStyle/>
          <a:p>
            <a:pPr indent="0" marL="0">
              <a:buNone/>
            </a:pPr>
            <a:r>
              <a:rPr lang="en-US" sz="900" b="1" spc="400" kern="0" dirty="0">
                <a:solidFill>
                  <a:srgbClr val="FFD700"/>
                </a:solidFill>
                <a:latin typeface="Calibri" pitchFamily="34" charset="0"/>
                <a:ea typeface="Calibri" pitchFamily="34" charset="-122"/>
                <a:cs typeface="Calibri" pitchFamily="34" charset="-120"/>
              </a:rPr>
              <a:t>USE OF FUNDS</a:t>
            </a:r>
            <a:endParaRPr lang="en-US" sz="900" dirty="0"/>
          </a:p>
        </p:txBody>
      </p:sp>
      <p:sp>
        <p:nvSpPr>
          <p:cNvPr id="10" name="Shape 8"/>
          <p:cNvSpPr/>
          <p:nvPr/>
        </p:nvSpPr>
        <p:spPr>
          <a:xfrm>
            <a:off x="457200" y="2926080"/>
            <a:ext cx="8229600" cy="402336"/>
          </a:xfrm>
          <a:prstGeom prst="rect">
            <a:avLst/>
          </a:prstGeom>
          <a:solidFill>
            <a:srgbClr val="141414"/>
          </a:solidFill>
          <a:ln w="12700">
            <a:solidFill>
              <a:srgbClr val="333333"/>
            </a:solidFill>
            <a:prstDash val="solid"/>
          </a:ln>
        </p:spPr>
      </p:sp>
      <p:sp>
        <p:nvSpPr>
          <p:cNvPr id="11" name="Text 9"/>
          <p:cNvSpPr/>
          <p:nvPr/>
        </p:nvSpPr>
        <p:spPr>
          <a:xfrm>
            <a:off x="594360" y="3008376"/>
            <a:ext cx="822960" cy="256032"/>
          </a:xfrm>
          <a:prstGeom prst="rect">
            <a:avLst/>
          </a:prstGeom>
          <a:noFill/>
          <a:ln/>
        </p:spPr>
        <p:txBody>
          <a:bodyPr wrap="square" lIns="0" tIns="0" rIns="0" bIns="0" rtlCol="0" anchor="ctr"/>
          <a:lstStyle/>
          <a:p>
            <a:pPr indent="0" marL="0">
              <a:buNone/>
            </a:pPr>
            <a:r>
              <a:rPr lang="en-US" sz="1300" b="1" dirty="0">
                <a:solidFill>
                  <a:srgbClr val="FFD700"/>
                </a:solidFill>
                <a:latin typeface="Arial Black" pitchFamily="34" charset="0"/>
                <a:ea typeface="Arial Black" pitchFamily="34" charset="-122"/>
                <a:cs typeface="Arial Black" pitchFamily="34" charset="-120"/>
              </a:rPr>
              <a:t>~53%</a:t>
            </a:r>
            <a:endParaRPr lang="en-US" sz="1300" dirty="0"/>
          </a:p>
        </p:txBody>
      </p:sp>
      <p:sp>
        <p:nvSpPr>
          <p:cNvPr id="12" name="Text 10"/>
          <p:cNvSpPr/>
          <p:nvPr/>
        </p:nvSpPr>
        <p:spPr>
          <a:xfrm>
            <a:off x="1554480" y="3017520"/>
            <a:ext cx="3840480" cy="246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Marketing &amp; Community Seeding</a:t>
            </a:r>
            <a:endParaRPr lang="en-US" sz="1100" dirty="0"/>
          </a:p>
        </p:txBody>
      </p:sp>
      <p:sp>
        <p:nvSpPr>
          <p:cNvPr id="13" name="Text 11"/>
          <p:cNvSpPr/>
          <p:nvPr/>
        </p:nvSpPr>
        <p:spPr>
          <a:xfrm>
            <a:off x="5486400" y="3026664"/>
            <a:ext cx="2194560" cy="228600"/>
          </a:xfrm>
          <a:prstGeom prst="rect">
            <a:avLst/>
          </a:prstGeom>
          <a:noFill/>
          <a:ln/>
        </p:spPr>
        <p:txBody>
          <a:bodyPr wrap="square" lIns="0" tIns="0" rIns="0" bIns="0" rtlCol="0" anchor="ctr"/>
          <a:lstStyle/>
          <a:p>
            <a:pPr indent="0" marL="0">
              <a:buNone/>
            </a:pPr>
            <a:r>
              <a:rPr lang="en-US" sz="950" i="1" dirty="0">
                <a:solidFill>
                  <a:srgbClr val="888888"/>
                </a:solidFill>
                <a:latin typeface="Calibri" pitchFamily="34" charset="0"/>
                <a:ea typeface="Calibri" pitchFamily="34" charset="-122"/>
                <a:cs typeface="Calibri" pitchFamily="34" charset="-120"/>
              </a:rPr>
              <a:t>Checkatrade, trades groups, NHS &amp; delivery outreach</a:t>
            </a:r>
            <a:endParaRPr lang="en-US" sz="950" dirty="0"/>
          </a:p>
        </p:txBody>
      </p:sp>
      <p:sp>
        <p:nvSpPr>
          <p:cNvPr id="14" name="Text 12"/>
          <p:cNvSpPr/>
          <p:nvPr/>
        </p:nvSpPr>
        <p:spPr>
          <a:xfrm>
            <a:off x="7772400" y="3008376"/>
            <a:ext cx="777240" cy="256032"/>
          </a:xfrm>
          <a:prstGeom prst="rect">
            <a:avLst/>
          </a:prstGeom>
          <a:noFill/>
          <a:ln/>
        </p:spPr>
        <p:txBody>
          <a:bodyPr wrap="square" lIns="0" tIns="0" rIns="0" bIns="0" rtlCol="0" anchor="ctr"/>
          <a:lstStyle/>
          <a:p>
            <a:pPr algn="r" indent="0" marL="0">
              <a:buNone/>
            </a:pPr>
            <a:r>
              <a:rPr lang="en-US" sz="1200" b="1" dirty="0">
                <a:solidFill>
                  <a:srgbClr val="FFD700"/>
                </a:solidFill>
                <a:latin typeface="Arial Black" pitchFamily="34" charset="0"/>
                <a:ea typeface="Arial Black" pitchFamily="34" charset="-122"/>
                <a:cs typeface="Arial Black" pitchFamily="34" charset="-120"/>
              </a:rPr>
              <a:t>£80k</a:t>
            </a:r>
            <a:endParaRPr lang="en-US" sz="1200" dirty="0"/>
          </a:p>
        </p:txBody>
      </p:sp>
      <p:sp>
        <p:nvSpPr>
          <p:cNvPr id="15" name="Shape 13"/>
          <p:cNvSpPr/>
          <p:nvPr/>
        </p:nvSpPr>
        <p:spPr>
          <a:xfrm>
            <a:off x="457200" y="3383280"/>
            <a:ext cx="8229600" cy="402336"/>
          </a:xfrm>
          <a:prstGeom prst="rect">
            <a:avLst/>
          </a:prstGeom>
          <a:solidFill>
            <a:srgbClr val="1A1A1A"/>
          </a:solidFill>
          <a:ln w="12700">
            <a:solidFill>
              <a:srgbClr val="333333"/>
            </a:solidFill>
            <a:prstDash val="solid"/>
          </a:ln>
        </p:spPr>
      </p:sp>
      <p:sp>
        <p:nvSpPr>
          <p:cNvPr id="16" name="Text 14"/>
          <p:cNvSpPr/>
          <p:nvPr/>
        </p:nvSpPr>
        <p:spPr>
          <a:xfrm>
            <a:off x="594360" y="3465576"/>
            <a:ext cx="822960" cy="256032"/>
          </a:xfrm>
          <a:prstGeom prst="rect">
            <a:avLst/>
          </a:prstGeom>
          <a:noFill/>
          <a:ln/>
        </p:spPr>
        <p:txBody>
          <a:bodyPr wrap="square" lIns="0" tIns="0" rIns="0" bIns="0" rtlCol="0" anchor="ctr"/>
          <a:lstStyle/>
          <a:p>
            <a:pPr indent="0" marL="0">
              <a:buNone/>
            </a:pPr>
            <a:r>
              <a:rPr lang="en-US" sz="1300" b="1" dirty="0">
                <a:solidFill>
                  <a:srgbClr val="FFD700"/>
                </a:solidFill>
                <a:latin typeface="Arial Black" pitchFamily="34" charset="0"/>
                <a:ea typeface="Arial Black" pitchFamily="34" charset="-122"/>
                <a:cs typeface="Arial Black" pitchFamily="34" charset="-120"/>
              </a:rPr>
              <a:t>~21%</a:t>
            </a:r>
            <a:endParaRPr lang="en-US" sz="1300" dirty="0"/>
          </a:p>
        </p:txBody>
      </p:sp>
      <p:sp>
        <p:nvSpPr>
          <p:cNvPr id="17" name="Text 15"/>
          <p:cNvSpPr/>
          <p:nvPr/>
        </p:nvSpPr>
        <p:spPr>
          <a:xfrm>
            <a:off x="1554480" y="3474720"/>
            <a:ext cx="3840480" cy="246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Product Development</a:t>
            </a:r>
            <a:endParaRPr lang="en-US" sz="1100" dirty="0"/>
          </a:p>
        </p:txBody>
      </p:sp>
      <p:sp>
        <p:nvSpPr>
          <p:cNvPr id="18" name="Text 16"/>
          <p:cNvSpPr/>
          <p:nvPr/>
        </p:nvSpPr>
        <p:spPr>
          <a:xfrm>
            <a:off x="5486400" y="3483864"/>
            <a:ext cx="2194560" cy="228600"/>
          </a:xfrm>
          <a:prstGeom prst="rect">
            <a:avLst/>
          </a:prstGeom>
          <a:noFill/>
          <a:ln/>
        </p:spPr>
        <p:txBody>
          <a:bodyPr wrap="square" lIns="0" tIns="0" rIns="0" bIns="0" rtlCol="0" anchor="ctr"/>
          <a:lstStyle/>
          <a:p>
            <a:pPr indent="0" marL="0">
              <a:buNone/>
            </a:pPr>
            <a:r>
              <a:rPr lang="en-US" sz="950" i="1" dirty="0">
                <a:solidFill>
                  <a:srgbClr val="888888"/>
                </a:solidFill>
                <a:latin typeface="Calibri" pitchFamily="34" charset="0"/>
                <a:ea typeface="Calibri" pitchFamily="34" charset="-122"/>
                <a:cs typeface="Calibri" pitchFamily="34" charset="-120"/>
              </a:rPr>
              <a:t>Subscriptions (RevenueCat), premium features, UX polish</a:t>
            </a:r>
            <a:endParaRPr lang="en-US" sz="950" dirty="0"/>
          </a:p>
        </p:txBody>
      </p:sp>
      <p:sp>
        <p:nvSpPr>
          <p:cNvPr id="19" name="Text 17"/>
          <p:cNvSpPr/>
          <p:nvPr/>
        </p:nvSpPr>
        <p:spPr>
          <a:xfrm>
            <a:off x="7772400" y="3465576"/>
            <a:ext cx="777240" cy="256032"/>
          </a:xfrm>
          <a:prstGeom prst="rect">
            <a:avLst/>
          </a:prstGeom>
          <a:noFill/>
          <a:ln/>
        </p:spPr>
        <p:txBody>
          <a:bodyPr wrap="square" lIns="0" tIns="0" rIns="0" bIns="0" rtlCol="0" anchor="ctr"/>
          <a:lstStyle/>
          <a:p>
            <a:pPr algn="r" indent="0" marL="0">
              <a:buNone/>
            </a:pPr>
            <a:r>
              <a:rPr lang="en-US" sz="1200" b="1" dirty="0">
                <a:solidFill>
                  <a:srgbClr val="FFD700"/>
                </a:solidFill>
                <a:latin typeface="Arial Black" pitchFamily="34" charset="0"/>
                <a:ea typeface="Arial Black" pitchFamily="34" charset="-122"/>
                <a:cs typeface="Arial Black" pitchFamily="34" charset="-120"/>
              </a:rPr>
              <a:t>£32k</a:t>
            </a:r>
            <a:endParaRPr lang="en-US" sz="1200" dirty="0"/>
          </a:p>
        </p:txBody>
      </p:sp>
      <p:sp>
        <p:nvSpPr>
          <p:cNvPr id="20" name="Shape 18"/>
          <p:cNvSpPr/>
          <p:nvPr/>
        </p:nvSpPr>
        <p:spPr>
          <a:xfrm>
            <a:off x="457200" y="3840480"/>
            <a:ext cx="8229600" cy="402336"/>
          </a:xfrm>
          <a:prstGeom prst="rect">
            <a:avLst/>
          </a:prstGeom>
          <a:solidFill>
            <a:srgbClr val="141414"/>
          </a:solidFill>
          <a:ln w="12700">
            <a:solidFill>
              <a:srgbClr val="333333"/>
            </a:solidFill>
            <a:prstDash val="solid"/>
          </a:ln>
        </p:spPr>
      </p:sp>
      <p:sp>
        <p:nvSpPr>
          <p:cNvPr id="21" name="Text 19"/>
          <p:cNvSpPr/>
          <p:nvPr/>
        </p:nvSpPr>
        <p:spPr>
          <a:xfrm>
            <a:off x="594360" y="3922776"/>
            <a:ext cx="822960" cy="256032"/>
          </a:xfrm>
          <a:prstGeom prst="rect">
            <a:avLst/>
          </a:prstGeom>
          <a:noFill/>
          <a:ln/>
        </p:spPr>
        <p:txBody>
          <a:bodyPr wrap="square" lIns="0" tIns="0" rIns="0" bIns="0" rtlCol="0" anchor="ctr"/>
          <a:lstStyle/>
          <a:p>
            <a:pPr indent="0" marL="0">
              <a:buNone/>
            </a:pPr>
            <a:r>
              <a:rPr lang="en-US" sz="1300" b="1" dirty="0">
                <a:solidFill>
                  <a:srgbClr val="FFD700"/>
                </a:solidFill>
                <a:latin typeface="Arial Black" pitchFamily="34" charset="0"/>
                <a:ea typeface="Arial Black" pitchFamily="34" charset="-122"/>
                <a:cs typeface="Arial Black" pitchFamily="34" charset="-120"/>
              </a:rPr>
              <a:t>~20%</a:t>
            </a:r>
            <a:endParaRPr lang="en-US" sz="1300" dirty="0"/>
          </a:p>
        </p:txBody>
      </p:sp>
      <p:sp>
        <p:nvSpPr>
          <p:cNvPr id="22" name="Text 20"/>
          <p:cNvSpPr/>
          <p:nvPr/>
        </p:nvSpPr>
        <p:spPr>
          <a:xfrm>
            <a:off x="1554480" y="3931920"/>
            <a:ext cx="3840480" cy="246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Operations &amp; Legal</a:t>
            </a:r>
            <a:endParaRPr lang="en-US" sz="1100" dirty="0"/>
          </a:p>
        </p:txBody>
      </p:sp>
      <p:sp>
        <p:nvSpPr>
          <p:cNvPr id="23" name="Text 21"/>
          <p:cNvSpPr/>
          <p:nvPr/>
        </p:nvSpPr>
        <p:spPr>
          <a:xfrm>
            <a:off x="5486400" y="3941064"/>
            <a:ext cx="2194560" cy="228600"/>
          </a:xfrm>
          <a:prstGeom prst="rect">
            <a:avLst/>
          </a:prstGeom>
          <a:noFill/>
          <a:ln/>
        </p:spPr>
        <p:txBody>
          <a:bodyPr wrap="square" lIns="0" tIns="0" rIns="0" bIns="0" rtlCol="0" anchor="ctr"/>
          <a:lstStyle/>
          <a:p>
            <a:pPr indent="0" marL="0">
              <a:buNone/>
            </a:pPr>
            <a:r>
              <a:rPr lang="en-US" sz="950" i="1" dirty="0">
                <a:solidFill>
                  <a:srgbClr val="888888"/>
                </a:solidFill>
                <a:latin typeface="Calibri" pitchFamily="34" charset="0"/>
                <a:ea typeface="Calibri" pitchFamily="34" charset="-122"/>
                <a:cs typeface="Calibri" pitchFamily="34" charset="-120"/>
              </a:rPr>
              <a:t>12 months runway, company structure, admin</a:t>
            </a:r>
            <a:endParaRPr lang="en-US" sz="950" dirty="0"/>
          </a:p>
        </p:txBody>
      </p:sp>
      <p:sp>
        <p:nvSpPr>
          <p:cNvPr id="24" name="Text 22"/>
          <p:cNvSpPr/>
          <p:nvPr/>
        </p:nvSpPr>
        <p:spPr>
          <a:xfrm>
            <a:off x="7772400" y="3922776"/>
            <a:ext cx="777240" cy="256032"/>
          </a:xfrm>
          <a:prstGeom prst="rect">
            <a:avLst/>
          </a:prstGeom>
          <a:noFill/>
          <a:ln/>
        </p:spPr>
        <p:txBody>
          <a:bodyPr wrap="square" lIns="0" tIns="0" rIns="0" bIns="0" rtlCol="0" anchor="ctr"/>
          <a:lstStyle/>
          <a:p>
            <a:pPr algn="r" indent="0" marL="0">
              <a:buNone/>
            </a:pPr>
            <a:r>
              <a:rPr lang="en-US" sz="1200" b="1" dirty="0">
                <a:solidFill>
                  <a:srgbClr val="FFD700"/>
                </a:solidFill>
                <a:latin typeface="Arial Black" pitchFamily="34" charset="0"/>
                <a:ea typeface="Arial Black" pitchFamily="34" charset="-122"/>
                <a:cs typeface="Arial Black" pitchFamily="34" charset="-120"/>
              </a:rPr>
              <a:t>£30k</a:t>
            </a:r>
            <a:endParaRPr lang="en-US" sz="1200" dirty="0"/>
          </a:p>
        </p:txBody>
      </p:sp>
      <p:sp>
        <p:nvSpPr>
          <p:cNvPr id="25" name="Shape 23"/>
          <p:cNvSpPr/>
          <p:nvPr/>
        </p:nvSpPr>
        <p:spPr>
          <a:xfrm>
            <a:off x="457200" y="4297680"/>
            <a:ext cx="8229600" cy="402336"/>
          </a:xfrm>
          <a:prstGeom prst="rect">
            <a:avLst/>
          </a:prstGeom>
          <a:solidFill>
            <a:srgbClr val="1A1A1A"/>
          </a:solidFill>
          <a:ln w="12700">
            <a:solidFill>
              <a:srgbClr val="333333"/>
            </a:solidFill>
            <a:prstDash val="solid"/>
          </a:ln>
        </p:spPr>
      </p:sp>
      <p:sp>
        <p:nvSpPr>
          <p:cNvPr id="26" name="Text 24"/>
          <p:cNvSpPr/>
          <p:nvPr/>
        </p:nvSpPr>
        <p:spPr>
          <a:xfrm>
            <a:off x="594360" y="4379976"/>
            <a:ext cx="822960" cy="256032"/>
          </a:xfrm>
          <a:prstGeom prst="rect">
            <a:avLst/>
          </a:prstGeom>
          <a:noFill/>
          <a:ln/>
        </p:spPr>
        <p:txBody>
          <a:bodyPr wrap="square" lIns="0" tIns="0" rIns="0" bIns="0" rtlCol="0" anchor="ctr"/>
          <a:lstStyle/>
          <a:p>
            <a:pPr indent="0" marL="0">
              <a:buNone/>
            </a:pPr>
            <a:r>
              <a:rPr lang="en-US" sz="1300" b="1" dirty="0">
                <a:solidFill>
                  <a:srgbClr val="FFD700"/>
                </a:solidFill>
                <a:latin typeface="Arial Black" pitchFamily="34" charset="0"/>
                <a:ea typeface="Arial Black" pitchFamily="34" charset="-122"/>
                <a:cs typeface="Arial Black" pitchFamily="34" charset="-120"/>
              </a:rPr>
              <a:t> ~5%</a:t>
            </a:r>
            <a:endParaRPr lang="en-US" sz="1300" dirty="0"/>
          </a:p>
        </p:txBody>
      </p:sp>
      <p:sp>
        <p:nvSpPr>
          <p:cNvPr id="27" name="Text 25"/>
          <p:cNvSpPr/>
          <p:nvPr/>
        </p:nvSpPr>
        <p:spPr>
          <a:xfrm>
            <a:off x="1554480" y="4389120"/>
            <a:ext cx="3840480" cy="24688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Apple Developer &amp; App Store Launch</a:t>
            </a:r>
            <a:endParaRPr lang="en-US" sz="1100" dirty="0"/>
          </a:p>
        </p:txBody>
      </p:sp>
      <p:sp>
        <p:nvSpPr>
          <p:cNvPr id="28" name="Text 26"/>
          <p:cNvSpPr/>
          <p:nvPr/>
        </p:nvSpPr>
        <p:spPr>
          <a:xfrm>
            <a:off x="5486400" y="4398264"/>
            <a:ext cx="2194560" cy="228600"/>
          </a:xfrm>
          <a:prstGeom prst="rect">
            <a:avLst/>
          </a:prstGeom>
          <a:noFill/>
          <a:ln/>
        </p:spPr>
        <p:txBody>
          <a:bodyPr wrap="square" lIns="0" tIns="0" rIns="0" bIns="0" rtlCol="0" anchor="ctr"/>
          <a:lstStyle/>
          <a:p>
            <a:pPr indent="0" marL="0">
              <a:buNone/>
            </a:pPr>
            <a:r>
              <a:rPr lang="en-US" sz="950" i="1" dirty="0">
                <a:solidFill>
                  <a:srgbClr val="888888"/>
                </a:solidFill>
                <a:latin typeface="Calibri" pitchFamily="34" charset="0"/>
                <a:ea typeface="Calibri" pitchFamily="34" charset="-122"/>
                <a:cs typeface="Calibri" pitchFamily="34" charset="-120"/>
              </a:rPr>
              <a:t>iOS push notifications, live App Store distribution</a:t>
            </a:r>
            <a:endParaRPr lang="en-US" sz="950" dirty="0"/>
          </a:p>
        </p:txBody>
      </p:sp>
      <p:sp>
        <p:nvSpPr>
          <p:cNvPr id="29" name="Text 27"/>
          <p:cNvSpPr/>
          <p:nvPr/>
        </p:nvSpPr>
        <p:spPr>
          <a:xfrm>
            <a:off x="7772400" y="4379976"/>
            <a:ext cx="777240" cy="256032"/>
          </a:xfrm>
          <a:prstGeom prst="rect">
            <a:avLst/>
          </a:prstGeom>
          <a:noFill/>
          <a:ln/>
        </p:spPr>
        <p:txBody>
          <a:bodyPr wrap="square" lIns="0" tIns="0" rIns="0" bIns="0" rtlCol="0" anchor="ctr"/>
          <a:lstStyle/>
          <a:p>
            <a:pPr algn="r" indent="0" marL="0">
              <a:buNone/>
            </a:pPr>
            <a:r>
              <a:rPr lang="en-US" sz="1200" b="1" dirty="0">
                <a:solidFill>
                  <a:srgbClr val="FFD700"/>
                </a:solidFill>
                <a:latin typeface="Arial Black" pitchFamily="34" charset="0"/>
                <a:ea typeface="Arial Black" pitchFamily="34" charset="-122"/>
                <a:cs typeface="Arial Black" pitchFamily="34" charset="-120"/>
              </a:rPr>
              <a:t>£8k</a:t>
            </a:r>
            <a:endParaRPr lang="en-US" sz="1200" dirty="0"/>
          </a:p>
        </p:txBody>
      </p:sp>
      <p:sp>
        <p:nvSpPr>
          <p:cNvPr id="30" name="Text 28"/>
          <p:cNvSpPr/>
          <p:nvPr/>
        </p:nvSpPr>
        <p:spPr>
          <a:xfrm>
            <a:off x="457200" y="4846320"/>
            <a:ext cx="8229600" cy="182880"/>
          </a:xfrm>
          <a:prstGeom prst="rect">
            <a:avLst/>
          </a:prstGeom>
          <a:noFill/>
          <a:ln/>
        </p:spPr>
        <p:txBody>
          <a:bodyPr wrap="square" lIns="0" tIns="0" rIns="0" bIns="0" rtlCol="0" anchor="ctr"/>
          <a:lstStyle/>
          <a:p>
            <a:pPr algn="ctr" indent="0" marL="0">
              <a:buNone/>
            </a:pPr>
            <a:r>
              <a:rPr lang="en-US" sz="800" dirty="0">
                <a:solidFill>
                  <a:srgbClr val="555555"/>
                </a:solidFill>
                <a:latin typeface="Calibri" pitchFamily="34" charset="0"/>
                <a:ea typeface="Calibri" pitchFamily="34" charset="-122"/>
                <a:cs typeface="Calibri" pitchFamily="34" charset="-120"/>
              </a:rPr>
              <a:t>toby@pluckyfilms.co.uk  ·  Double Yellow  ·  Confidential  ·  March 2026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2026-03-25T00:31:24Z</dcterms:created>
  <dcterms:modified xsi:type="dcterms:W3CDTF">2026-03-25T00:31:24Z</dcterms:modified>
</cp:coreProperties>
</file>